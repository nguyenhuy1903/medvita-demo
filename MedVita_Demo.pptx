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84" d="100"/>
          <a:sy n="184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Phân bổ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0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47F-B54F-A78D-E11D44E1FF6A}"/>
              </c:ext>
            </c:extLst>
          </c:dPt>
          <c:dPt>
            <c:idx val="1"/>
            <c:bubble3D val="0"/>
            <c:spPr>
              <a:solidFill>
                <a:srgbClr val="354D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7F-B54F-A78D-E11D44E1FF6A}"/>
              </c:ext>
            </c:extLst>
          </c:dPt>
          <c:dPt>
            <c:idx val="2"/>
            <c:bubble3D val="0"/>
            <c:spPr>
              <a:solidFill>
                <a:srgbClr val="D4DC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7F-B54F-A78D-E11D44E1FF6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V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47F-B54F-A78D-E11D44E1FF6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V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47F-B54F-A78D-E11D44E1FF6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V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47F-B54F-A78D-E11D44E1FF6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V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EHR &amp; hành chính</c:v>
                </c:pt>
                <c:pt idx="1">
                  <c:v>Khám trực tiếp BN</c:v>
                </c:pt>
                <c:pt idx="2">
                  <c:v>Việc khác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33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7F-B54F-A78D-E11D44E1FF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Giờ tiết kiệm</c:v>
                </c:pt>
              </c:strCache>
            </c:strRef>
          </c:tx>
          <c:spPr>
            <a:solidFill>
              <a:srgbClr val="354D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D3748"/>
                    </a:solidFill>
                    <a:latin typeface="Arial"/>
                  </a:defRPr>
                </a:pPr>
                <a:endParaRPr lang="en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10% cải thiện</c:v>
                </c:pt>
                <c:pt idx="1">
                  <c:v>20% cải thiện</c:v>
                </c:pt>
                <c:pt idx="2">
                  <c:v>30% cải thiện</c:v>
                </c:pt>
                <c:pt idx="3">
                  <c:v>40% cải thiện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16667</c:v>
                </c:pt>
                <c:pt idx="1">
                  <c:v>33333</c:v>
                </c:pt>
                <c:pt idx="2">
                  <c:v>50000</c:v>
                </c:pt>
                <c:pt idx="3">
                  <c:v>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DC-3B4D-8DB9-37720FE73B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73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D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Development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498080" y="5029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7726680" y="5029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183880" y="5029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412480" y="5029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641080" y="5029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8869680" y="5029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498080" y="7315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7726680" y="7315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7955280" y="7315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183880" y="7315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412480" y="7315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641080" y="7315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8869680" y="7315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498080" y="9601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7726680" y="9601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7955280" y="9601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183880" y="9601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412480" y="9601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641080" y="9601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8869680" y="96012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54864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MedVita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54864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EC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 cho bác sĩ | Tự động hoá hồ sơ bệnh án điện tử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3127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gánh nặng hành chính · Tăng năng suất khám · Chuẩn hoá dữ liệu y khoa tiếng Việt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6634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Bản trình bày demo  |  Phiên bản 1.0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D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Trivita AI  |  Date: 05/2026</a:t>
            </a:r>
            <a:endParaRPr lang="en-US" sz="900" dirty="0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BFACE1DA-EF05-3BDB-2B75-CC78EF1DA9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538" y="693632"/>
            <a:ext cx="987510" cy="3095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điều hành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MedVita đáng được lãnh đạo bệnh viện cân nhắc triển khai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1554480"/>
            <a:ext cx="26060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457200" y="1554480"/>
            <a:ext cx="2606040" cy="9144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731520" y="1847088"/>
            <a:ext cx="502920" cy="502920"/>
          </a:xfrm>
          <a:prstGeom prst="ellipse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47672"/>
            <a:ext cx="301752" cy="30175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57200" y="2423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≈49%</a:t>
            </a:r>
            <a:endParaRPr lang="en-US" sz="5000" dirty="0"/>
          </a:p>
        </p:txBody>
      </p:sp>
      <p:sp>
        <p:nvSpPr>
          <p:cNvPr id="34" name="Text 31"/>
          <p:cNvSpPr/>
          <p:nvPr/>
        </p:nvSpPr>
        <p:spPr>
          <a:xfrm>
            <a:off x="64008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bác sĩ dành cho EHR và việc hành chính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246120" y="1554480"/>
            <a:ext cx="26060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6" name="Shape 33"/>
          <p:cNvSpPr/>
          <p:nvPr/>
        </p:nvSpPr>
        <p:spPr>
          <a:xfrm>
            <a:off x="3246120" y="1554480"/>
            <a:ext cx="2606040" cy="91440"/>
          </a:xfrm>
          <a:prstGeom prst="rect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Shape 34"/>
          <p:cNvSpPr/>
          <p:nvPr/>
        </p:nvSpPr>
        <p:spPr>
          <a:xfrm>
            <a:off x="3520440" y="1847088"/>
            <a:ext cx="502920" cy="502920"/>
          </a:xfrm>
          <a:prstGeom prst="ellipse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1947672"/>
            <a:ext cx="301752" cy="30175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3246120" y="2423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7B8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5000" dirty="0"/>
          </a:p>
        </p:txBody>
      </p:sp>
      <p:sp>
        <p:nvSpPr>
          <p:cNvPr id="40" name="Text 36"/>
          <p:cNvSpPr/>
          <p:nvPr/>
        </p:nvSpPr>
        <p:spPr>
          <a:xfrm>
            <a:off x="342900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thời gian lập hồ sơ bệnh án mỗi ca khám¹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6035040" y="1554480"/>
            <a:ext cx="26060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2" name="Shape 38"/>
          <p:cNvSpPr/>
          <p:nvPr/>
        </p:nvSpPr>
        <p:spPr>
          <a:xfrm>
            <a:off x="6035040" y="1554480"/>
            <a:ext cx="2606040" cy="91440"/>
          </a:xfrm>
          <a:prstGeom prst="rect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3" name="Shape 39"/>
          <p:cNvSpPr/>
          <p:nvPr/>
        </p:nvSpPr>
        <p:spPr>
          <a:xfrm>
            <a:off x="6309360" y="1847088"/>
            <a:ext cx="502920" cy="502920"/>
          </a:xfrm>
          <a:prstGeom prst="ellipse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947672"/>
            <a:ext cx="301752" cy="30175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035040" y="2423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000" dirty="0"/>
          </a:p>
        </p:txBody>
      </p:sp>
      <p:sp>
        <p:nvSpPr>
          <p:cNvPr id="46" name="Text 41"/>
          <p:cNvSpPr/>
          <p:nvPr/>
        </p:nvSpPr>
        <p:spPr>
          <a:xfrm>
            <a:off x="621792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bệnh án Việt Nam, ngôn ngữ y khoa tiếng Việt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8" name="Shape 43"/>
          <p:cNvSpPr/>
          <p:nvPr/>
        </p:nvSpPr>
        <p:spPr>
          <a:xfrm>
            <a:off x="457200" y="3886200"/>
            <a:ext cx="91440" cy="73152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9" name="Text 44"/>
          <p:cNvSpPr/>
          <p:nvPr/>
        </p:nvSpPr>
        <p:spPr>
          <a:xfrm>
            <a:off x="77724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cốt lõi: trả lại thời gian chuyên môn cho bác sĩ — vận hành chuẩn HIS, dữ liệu nội viện, không vendor lock-in.</a:t>
            </a:r>
            <a:endParaRPr lang="en-US" sz="1300" dirty="0"/>
          </a:p>
        </p:txBody>
      </p:sp>
      <p:sp>
        <p:nvSpPr>
          <p:cNvPr id="50" name="Text 45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Ước tính nội bộ dựa trên Sinsky et al., Ann Intern Med. 2016 — sẽ được hiệu chỉnh sau pilot.</a:t>
            </a:r>
            <a:endParaRPr lang="en-US" sz="800" dirty="0"/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54370725-6526-4AF5-9CC6-20B2158609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760" y="326967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Gánh nặng hành chính trong y tế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ẩn lớn nhất của bệnh viện không nằm ở thiết bị — nằm ở thời gian bác sĩ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155448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0" name="Text 28"/>
          <p:cNvSpPr/>
          <p:nvPr/>
        </p:nvSpPr>
        <p:spPr>
          <a:xfrm>
            <a:off x="640080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thời gian làm việc của bác sĩ</a:t>
            </a:r>
            <a:endParaRPr lang="en-US" sz="13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640080" y="2057400"/>
          <a:ext cx="36576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4846320" y="155448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3" name="Shape 30"/>
          <p:cNvSpPr/>
          <p:nvPr/>
        </p:nvSpPr>
        <p:spPr>
          <a:xfrm>
            <a:off x="4846320" y="1554480"/>
            <a:ext cx="73152" cy="960120"/>
          </a:xfrm>
          <a:prstGeom prst="rect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Shape 31"/>
          <p:cNvSpPr/>
          <p:nvPr/>
        </p:nvSpPr>
        <p:spPr>
          <a:xfrm>
            <a:off x="5029200" y="1719072"/>
            <a:ext cx="384048" cy="384048"/>
          </a:xfrm>
          <a:prstGeom prst="ellipse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Text 32"/>
          <p:cNvSpPr/>
          <p:nvPr/>
        </p:nvSpPr>
        <p:spPr>
          <a:xfrm>
            <a:off x="50292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486400" y="16642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chuyên môn bị bào mòn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486400" y="19476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≈49% giờ làm việc và 1/3 thời gian mỗi ca khám của bác sĩ phải dành cho hồ sơ bệnh án và thủ tục giấy tờ.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846320" y="2615184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9" name="Shape 36"/>
          <p:cNvSpPr/>
          <p:nvPr/>
        </p:nvSpPr>
        <p:spPr>
          <a:xfrm>
            <a:off x="4846320" y="2615184"/>
            <a:ext cx="73152" cy="960120"/>
          </a:xfrm>
          <a:prstGeom prst="rect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0" name="Shape 37"/>
          <p:cNvSpPr/>
          <p:nvPr/>
        </p:nvSpPr>
        <p:spPr>
          <a:xfrm>
            <a:off x="5029200" y="2779776"/>
            <a:ext cx="384048" cy="384048"/>
          </a:xfrm>
          <a:prstGeom prst="ellipse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1" name="Text 38"/>
          <p:cNvSpPr/>
          <p:nvPr/>
        </p:nvSpPr>
        <p:spPr>
          <a:xfrm>
            <a:off x="502920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486400" y="27249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công suất khám và chất lượng dịch vụ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486400" y="300837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sĩ ít thời gian tương tác, dễ bỏ sót thông tin lâm sàng quan trọng — ảnh hưởng trải nghiệm bệnh nhân và doanh thu/giường.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846320" y="3675888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5" name="Shape 42"/>
          <p:cNvSpPr/>
          <p:nvPr/>
        </p:nvSpPr>
        <p:spPr>
          <a:xfrm>
            <a:off x="4846320" y="3675888"/>
            <a:ext cx="73152" cy="960120"/>
          </a:xfrm>
          <a:prstGeom prst="rect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6" name="Shape 43"/>
          <p:cNvSpPr/>
          <p:nvPr/>
        </p:nvSpPr>
        <p:spPr>
          <a:xfrm>
            <a:off x="5029200" y="3840480"/>
            <a:ext cx="384048" cy="384048"/>
          </a:xfrm>
          <a:prstGeom prst="ellipse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7" name="Text 44"/>
          <p:cNvSpPr/>
          <p:nvPr/>
        </p:nvSpPr>
        <p:spPr>
          <a:xfrm>
            <a:off x="50292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5486400" y="378561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 cơ burnout và thiếu nhân lực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5486400" y="4069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tải hành chính là một trong các nguyên nhân chính dẫn đến kiệt sức nghề nghiệp, làm tăng chi phí tuyển dụng và đào tạo lại.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Sinsky C et al. "Allocation of Physician Time in Ambulatory Practice". Ann Intern Med. 2016;165:753-760. doi:10.7326/M16-0961</a:t>
            </a:r>
            <a:endParaRPr lang="en-US" sz="800" dirty="0"/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4788DD7F-5270-DF0C-BF9C-A2FA53CA2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293855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động đến vận hành bệnh viện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một con số “49% thời gian” — nhưng quy ra chi phí và doanh thu thực sự là gì?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160020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457200" y="3218688"/>
            <a:ext cx="1965960" cy="73152"/>
          </a:xfrm>
          <a:prstGeom prst="rect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594360" y="17647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ẨN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9436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sĩ làm việc hành chính = chi phí lương cho công việc lẽ ra dành cho điều trị.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0" y="160020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5" name="Shape 33"/>
          <p:cNvSpPr/>
          <p:nvPr/>
        </p:nvSpPr>
        <p:spPr>
          <a:xfrm>
            <a:off x="2560320" y="3218688"/>
            <a:ext cx="1965960" cy="73152"/>
          </a:xfrm>
          <a:prstGeom prst="rect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6" name="Text 34"/>
          <p:cNvSpPr/>
          <p:nvPr/>
        </p:nvSpPr>
        <p:spPr>
          <a:xfrm>
            <a:off x="2697480" y="17647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SUẤT KHÁM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9748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25–35%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69748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ca khám có thể rút ngắn 5–10 phút — tăng số bệnh nhân/ngày tương ứng.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160020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0" name="Shape 38"/>
          <p:cNvSpPr/>
          <p:nvPr/>
        </p:nvSpPr>
        <p:spPr>
          <a:xfrm>
            <a:off x="4663440" y="3218688"/>
            <a:ext cx="1965960" cy="73152"/>
          </a:xfrm>
          <a:prstGeom prst="rect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1" name="Text 39"/>
          <p:cNvSpPr/>
          <p:nvPr/>
        </p:nvSpPr>
        <p:spPr>
          <a:xfrm>
            <a:off x="4800600" y="17647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SÓT LÂM SÀNG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80060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chép thủ công vội dễ bỏ sót triệu chứng / tiền sử dị ứng.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66560" y="160020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5" name="Shape 43"/>
          <p:cNvSpPr/>
          <p:nvPr/>
        </p:nvSpPr>
        <p:spPr>
          <a:xfrm>
            <a:off x="6766560" y="3218688"/>
            <a:ext cx="1965960" cy="73152"/>
          </a:xfrm>
          <a:prstGeom prst="rect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6" name="Text 44"/>
          <p:cNvSpPr/>
          <p:nvPr/>
        </p:nvSpPr>
        <p:spPr>
          <a:xfrm>
            <a:off x="6903720" y="17647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BN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0372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Kém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903720" y="2514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sĩ nhìn màn hình nhiều hơn nhìn bệnh nhân — giảm điểm hài lòng.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3520440"/>
            <a:ext cx="4023360" cy="1097280"/>
          </a:xfrm>
          <a:prstGeom prst="rect">
            <a:avLst/>
          </a:prstGeom>
          <a:solidFill>
            <a:srgbClr val="FBE9E7"/>
          </a:solidFill>
          <a:ln w="635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0" name="Text 48"/>
          <p:cNvSpPr/>
          <p:nvPr/>
        </p:nvSpPr>
        <p:spPr>
          <a:xfrm>
            <a:off x="640080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tại — không có MedVita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" y="3840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sĩ gõ tay từng dòng bệnh án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ca khám 15–20 phút, ⅓ là thủ tục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rời rạc, khó tổng hợp báo cáo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63440" y="3520440"/>
            <a:ext cx="4023360" cy="1097280"/>
          </a:xfrm>
          <a:prstGeom prst="rect">
            <a:avLst/>
          </a:prstGeom>
          <a:solidFill>
            <a:srgbClr val="E0F2EF"/>
          </a:solidFill>
          <a:ln w="635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3" name="Text 51"/>
          <p:cNvSpPr/>
          <p:nvPr/>
        </p:nvSpPr>
        <p:spPr>
          <a:xfrm>
            <a:off x="4846320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C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triển khai MedVita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46320" y="3840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ghi âm và soạn bệnh án theo form viện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thủ tục giảm rõ rệt mỗi ca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chuẩn hoá, sẵn sàng phân tích</a:t>
            </a:r>
            <a:endParaRPr lang="en-US" sz="1050" dirty="0"/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C4722EF9-A5E9-9542-442A-01A43B2CA5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326967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MedVita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 đồng hành cùng bác sĩ trên toàn bộ luồng khám — từ trước, trong, đến sau khám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1645920"/>
            <a:ext cx="26517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457200" y="1645920"/>
            <a:ext cx="2651760" cy="777240"/>
          </a:xfrm>
          <a:prstGeom prst="rect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594360" y="1737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828800"/>
            <a:ext cx="502920" cy="50292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khám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640080" y="2926080"/>
            <a:ext cx="777240" cy="228600"/>
          </a:xfrm>
          <a:prstGeom prst="rect">
            <a:avLst/>
          </a:prstGeom>
          <a:solidFill>
            <a:srgbClr val="F2F2F2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Text 32"/>
          <p:cNvSpPr/>
          <p:nvPr/>
        </p:nvSpPr>
        <p:spPr>
          <a:xfrm>
            <a:off x="640080" y="2926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Tuỳ chọn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40080" y="327355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thông tin từ HIS, chatbot khai thác triệu chứng &amp; tiền sử, gửi bản tóm tắt cho bác sĩ trước khi tiếp nhận.</a:t>
            </a:r>
            <a:endParaRPr lang="en-US" sz="110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384" y="2971800"/>
            <a:ext cx="182880" cy="18288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3291840" y="1645920"/>
            <a:ext cx="26517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9" name="Shape 35"/>
          <p:cNvSpPr/>
          <p:nvPr/>
        </p:nvSpPr>
        <p:spPr>
          <a:xfrm>
            <a:off x="3291840" y="1645920"/>
            <a:ext cx="2651760" cy="77724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0" name="Text 36"/>
          <p:cNvSpPr/>
          <p:nvPr/>
        </p:nvSpPr>
        <p:spPr>
          <a:xfrm>
            <a:off x="3429000" y="1737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1828800"/>
            <a:ext cx="502920" cy="50292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347472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khám</a:t>
            </a:r>
            <a:endParaRPr lang="en-US" sz="1800" dirty="0"/>
          </a:p>
        </p:txBody>
      </p:sp>
      <p:sp>
        <p:nvSpPr>
          <p:cNvPr id="43" name="Shape 38"/>
          <p:cNvSpPr/>
          <p:nvPr/>
        </p:nvSpPr>
        <p:spPr>
          <a:xfrm>
            <a:off x="3474720" y="2926080"/>
            <a:ext cx="777240" cy="228600"/>
          </a:xfrm>
          <a:prstGeom prst="rect">
            <a:avLst/>
          </a:prstGeom>
          <a:solidFill>
            <a:srgbClr val="F2F2F2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4" name="Text 39"/>
          <p:cNvSpPr/>
          <p:nvPr/>
        </p:nvSpPr>
        <p:spPr>
          <a:xfrm>
            <a:off x="3474720" y="2926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3474720" y="327355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Lắng nghe hội thoại, hiển thị tóm tắt sống, tự động điền form, gợi ý nhóm bệnh và chỉ định cận lâm sàng.</a:t>
            </a:r>
            <a:endParaRPr lang="en-US" sz="110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971800"/>
            <a:ext cx="182880" cy="182880"/>
          </a:xfrm>
          <a:prstGeom prst="rect">
            <a:avLst/>
          </a:prstGeom>
        </p:spPr>
      </p:pic>
      <p:sp>
        <p:nvSpPr>
          <p:cNvPr id="47" name="Shape 41"/>
          <p:cNvSpPr/>
          <p:nvPr/>
        </p:nvSpPr>
        <p:spPr>
          <a:xfrm>
            <a:off x="6126480" y="1645920"/>
            <a:ext cx="26517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8" name="Shape 42"/>
          <p:cNvSpPr/>
          <p:nvPr/>
        </p:nvSpPr>
        <p:spPr>
          <a:xfrm>
            <a:off x="6126480" y="1645920"/>
            <a:ext cx="2651760" cy="777240"/>
          </a:xfrm>
          <a:prstGeom prst="rect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9" name="Text 43"/>
          <p:cNvSpPr/>
          <p:nvPr/>
        </p:nvSpPr>
        <p:spPr>
          <a:xfrm>
            <a:off x="6263640" y="1737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1828800"/>
            <a:ext cx="502920" cy="50292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630936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khám</a:t>
            </a:r>
            <a:endParaRPr lang="en-US" sz="1800" dirty="0"/>
          </a:p>
        </p:txBody>
      </p:sp>
      <p:sp>
        <p:nvSpPr>
          <p:cNvPr id="52" name="Shape 45"/>
          <p:cNvSpPr/>
          <p:nvPr/>
        </p:nvSpPr>
        <p:spPr>
          <a:xfrm>
            <a:off x="6309360" y="2926080"/>
            <a:ext cx="777240" cy="228600"/>
          </a:xfrm>
          <a:prstGeom prst="rect">
            <a:avLst/>
          </a:prstGeom>
          <a:solidFill>
            <a:srgbClr val="F2F2F2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3" name="Text 46"/>
          <p:cNvSpPr/>
          <p:nvPr/>
        </p:nvSpPr>
        <p:spPr>
          <a:xfrm>
            <a:off x="6309360" y="2926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hồ sơ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6309360" y="327355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bệnh án theo form bệnh viện, nhắc trường còn thiếu, chatbot bổ sung — bác sĩ chỉ duyệt và ký.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457200" y="46360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biệt: bám form bệnh án viện ban hành — thuật ngữ y khoa tiếng Việt — không thay đổi quy trình hiện hữu.</a:t>
            </a:r>
            <a:endParaRPr lang="en-US" sz="1050" dirty="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B9C9602E-00D1-5E99-B7E1-23892E0D1A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760" y="326967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 — Trước khi bệnh nhân gặp bác sĩ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khai thác bệnh sử + đọc HIS · giúp bác sĩ vào phòng khám đã có sẵn bối cảnh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160020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25880" y="1719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HIS / EMR sẵn có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25880" y="20208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tiền sử, dị ứng, đơn thuốc gần nhất nếu hệ thống đã có.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2624328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5" name="Shape 33"/>
          <p:cNvSpPr/>
          <p:nvPr/>
        </p:nvSpPr>
        <p:spPr>
          <a:xfrm>
            <a:off x="640080" y="2807208"/>
            <a:ext cx="502920" cy="502920"/>
          </a:xfrm>
          <a:prstGeom prst="ellipse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6" name="Text 34"/>
          <p:cNvSpPr/>
          <p:nvPr/>
        </p:nvSpPr>
        <p:spPr>
          <a:xfrm>
            <a:off x="64008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25880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khai thác triệu chứng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25880" y="30449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BN bằng tiếng Việt, theo logic y khoa, ghi nhận có cấu trúc.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3648456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0" name="Shape 38"/>
          <p:cNvSpPr/>
          <p:nvPr/>
        </p:nvSpPr>
        <p:spPr>
          <a:xfrm>
            <a:off x="640080" y="3831336"/>
            <a:ext cx="502920" cy="502920"/>
          </a:xfrm>
          <a:prstGeom prst="ellipse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1" name="Text 39"/>
          <p:cNvSpPr/>
          <p:nvPr/>
        </p:nvSpPr>
        <p:spPr>
          <a:xfrm>
            <a:off x="64008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25880" y="3767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bệnh sử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25880" y="4069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sinh bản tóm tắt 1 trang gửi bác sĩ trước khi tiếp nhận.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0" y="1600200"/>
            <a:ext cx="36576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5" name="Shape 43"/>
          <p:cNvSpPr/>
          <p:nvPr/>
        </p:nvSpPr>
        <p:spPr>
          <a:xfrm>
            <a:off x="5029200" y="1600200"/>
            <a:ext cx="3657600" cy="41148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6" name="Shape 44"/>
          <p:cNvSpPr/>
          <p:nvPr/>
        </p:nvSpPr>
        <p:spPr>
          <a:xfrm>
            <a:off x="5166360" y="1719072"/>
            <a:ext cx="164592" cy="164592"/>
          </a:xfrm>
          <a:prstGeom prst="ellipse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7" name="Text 45"/>
          <p:cNvSpPr/>
          <p:nvPr/>
        </p:nvSpPr>
        <p:spPr>
          <a:xfrm>
            <a:off x="539496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MedVita · Trò chuyện với bệnh nhân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212080" y="2167128"/>
            <a:ext cx="24688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9" name="Text 47"/>
          <p:cNvSpPr/>
          <p:nvPr/>
        </p:nvSpPr>
        <p:spPr>
          <a:xfrm>
            <a:off x="530352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Chào anh/chị, hôm nay anh/chị thấy khó chịu ở đâu ạ?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035040" y="2697480"/>
            <a:ext cx="2468880" cy="41148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1" name="Text 49"/>
          <p:cNvSpPr/>
          <p:nvPr/>
        </p:nvSpPr>
        <p:spPr>
          <a:xfrm>
            <a:off x="6126480" y="2715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Đau bụng vùng thượng vị 2 ngày nay, có buồn nôn.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212080" y="3182112"/>
            <a:ext cx="27432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3" name="Text 51"/>
          <p:cNvSpPr/>
          <p:nvPr/>
        </p:nvSpPr>
        <p:spPr>
          <a:xfrm>
            <a:off x="5303520" y="32095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Anh/chị có sốt, đi ngoài hay tiền sử viêm dạ dày không ạ? Có dùng thuốc giảm đau gần đây không?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212080" y="3886200"/>
            <a:ext cx="3291840" cy="594360"/>
          </a:xfrm>
          <a:prstGeom prst="rect">
            <a:avLst/>
          </a:prstGeom>
          <a:solidFill>
            <a:srgbClr val="FFF8E1"/>
          </a:solidFill>
          <a:ln w="6350">
            <a:solidFill>
              <a:srgbClr val="E9A53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5" name="Text 53"/>
          <p:cNvSpPr/>
          <p:nvPr/>
        </p:nvSpPr>
        <p:spPr>
          <a:xfrm>
            <a:off x="5303520" y="3931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gửi bác sĩ: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Đau thượng vị 2 ngày, kèm buồn nôn, không sốt, có dùng NSAID. Đề nghị khám bụng + chỉ định CTM, men gan.</a:t>
            </a:r>
            <a:endParaRPr lang="en-US" sz="950" dirty="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F3C19AE6-D889-6C67-43B0-0C993DF6A5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326967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 — Trong khi bác sĩ đang khám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màn hình 4 vùng — bác sĩ tập trung khám, AI lo phần ghi chép và gợi ý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1600200"/>
            <a:ext cx="5120640" cy="3017520"/>
          </a:xfrm>
          <a:prstGeom prst="rect">
            <a:avLst/>
          </a:prstGeom>
          <a:solidFill>
            <a:srgbClr val="192650"/>
          </a:solidFill>
          <a:ln w="12700">
            <a:solidFill>
              <a:srgbClr val="19265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457200" y="1600200"/>
            <a:ext cx="5120640" cy="25603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548640" y="167335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Shape 30"/>
          <p:cNvSpPr/>
          <p:nvPr/>
        </p:nvSpPr>
        <p:spPr>
          <a:xfrm>
            <a:off x="713232" y="167335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Shape 31"/>
          <p:cNvSpPr/>
          <p:nvPr/>
        </p:nvSpPr>
        <p:spPr>
          <a:xfrm>
            <a:off x="877824" y="167335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Text 32"/>
          <p:cNvSpPr/>
          <p:nvPr/>
        </p:nvSpPr>
        <p:spPr>
          <a:xfrm>
            <a:off x="1097280" y="16367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D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bác sĩ — 4 vùng làm việc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" y="1965960"/>
            <a:ext cx="235458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6" name="Shape 34"/>
          <p:cNvSpPr/>
          <p:nvPr/>
        </p:nvSpPr>
        <p:spPr>
          <a:xfrm>
            <a:off x="594360" y="1965960"/>
            <a:ext cx="2354580" cy="274320"/>
          </a:xfrm>
          <a:prstGeom prst="rect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Text 35"/>
          <p:cNvSpPr/>
          <p:nvPr/>
        </p:nvSpPr>
        <p:spPr>
          <a:xfrm>
            <a:off x="685800" y="2002536"/>
            <a:ext cx="2171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bệnh sử (Bước 1)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" y="2295144"/>
            <a:ext cx="21717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Đau thượng vị 2 ngày · NSAID · không sốt · có buồn nôn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86100" y="1965960"/>
            <a:ext cx="235458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0" name="Shape 38"/>
          <p:cNvSpPr/>
          <p:nvPr/>
        </p:nvSpPr>
        <p:spPr>
          <a:xfrm>
            <a:off x="3086100" y="1965960"/>
            <a:ext cx="2354580" cy="27432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1" name="Text 39"/>
          <p:cNvSpPr/>
          <p:nvPr/>
        </p:nvSpPr>
        <p:spPr>
          <a:xfrm>
            <a:off x="3177540" y="2002536"/>
            <a:ext cx="2171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chép realtime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177540" y="2295144"/>
            <a:ext cx="21717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sĩ vừa hỏi về tiền sử dạ dày · BN báo có viêm 3 năm trước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4360" y="3360420"/>
            <a:ext cx="235458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4" name="Shape 42"/>
          <p:cNvSpPr/>
          <p:nvPr/>
        </p:nvSpPr>
        <p:spPr>
          <a:xfrm>
            <a:off x="594360" y="3360420"/>
            <a:ext cx="2354580" cy="27432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5" name="Text 43"/>
          <p:cNvSpPr/>
          <p:nvPr/>
        </p:nvSpPr>
        <p:spPr>
          <a:xfrm>
            <a:off x="685800" y="3396996"/>
            <a:ext cx="2171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bệnh án — đang điền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5800" y="3689604"/>
            <a:ext cx="21717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Họ tên · ✓ CCCD · ✓ Triệu chứng · ◔ Khám lâm sàng (đang nhập)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86100" y="3360420"/>
            <a:ext cx="235458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8" name="Shape 46"/>
          <p:cNvSpPr/>
          <p:nvPr/>
        </p:nvSpPr>
        <p:spPr>
          <a:xfrm>
            <a:off x="3086100" y="3360420"/>
            <a:ext cx="2354580" cy="274320"/>
          </a:xfrm>
          <a:prstGeom prst="rect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9" name="Text 47"/>
          <p:cNvSpPr/>
          <p:nvPr/>
        </p:nvSpPr>
        <p:spPr>
          <a:xfrm>
            <a:off x="3177540" y="3396996"/>
            <a:ext cx="2171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lâm sàng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177540" y="3689604"/>
            <a:ext cx="21717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Khám: ấn thượng vị · CLS: CTM, men gan, HP test · Cân nhắc: viêm dạ dày, loét HP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760720" y="1600200"/>
            <a:ext cx="29260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52" name="Shape 50"/>
          <p:cNvSpPr/>
          <p:nvPr/>
        </p:nvSpPr>
        <p:spPr>
          <a:xfrm>
            <a:off x="5760720" y="1600200"/>
            <a:ext cx="73152" cy="301752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3" name="Text 51"/>
          <p:cNvSpPr/>
          <p:nvPr/>
        </p:nvSpPr>
        <p:spPr>
          <a:xfrm>
            <a:off x="5943600" y="1691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sĩ làm gì?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43600" y="2011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bệnh nhân như bình thường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Liếc màn hình để chốt thông tin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khảo gợi ý CLS khi cần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943600" y="3154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MedVita làm gì?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943600" y="34747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Lắng nghe và phiên âm hội thoại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điền các trường nhận diện được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nhóm bệnh &amp; cận lâm sàng</a:t>
            </a:r>
            <a:endParaRPr lang="en-US" sz="1050" dirty="0"/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D2B223CA-1D71-0B66-6AF5-A68F5D53D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326967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 — Sau khi khám: lập hồ sơ bệnh án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hoàn thiện bệnh án theo form viện, bác sĩ chỉ trao đổi và duyệt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1600200"/>
            <a:ext cx="45720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457200" y="1600200"/>
            <a:ext cx="4572000" cy="32004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640080" y="16459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bệnh án điện tử — Bệnh viện ABC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2103120"/>
            <a:ext cx="4206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Shape 31"/>
          <p:cNvSpPr/>
          <p:nvPr/>
        </p:nvSpPr>
        <p:spPr>
          <a:xfrm>
            <a:off x="731520" y="2194560"/>
            <a:ext cx="164592" cy="164592"/>
          </a:xfrm>
          <a:prstGeom prst="ellipse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Text 32"/>
          <p:cNvSpPr/>
          <p:nvPr/>
        </p:nvSpPr>
        <p:spPr>
          <a:xfrm>
            <a:off x="960120" y="21488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và tên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31720" y="21488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Văn A · Nam · 42t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2496312"/>
            <a:ext cx="4206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Shape 35"/>
          <p:cNvSpPr/>
          <p:nvPr/>
        </p:nvSpPr>
        <p:spPr>
          <a:xfrm>
            <a:off x="731520" y="2587752"/>
            <a:ext cx="164592" cy="164592"/>
          </a:xfrm>
          <a:prstGeom prst="ellipse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Text 36"/>
          <p:cNvSpPr/>
          <p:nvPr/>
        </p:nvSpPr>
        <p:spPr>
          <a:xfrm>
            <a:off x="960120" y="2542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vào viện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331720" y="25420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Đau thượng vị 2 ngày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" y="2889504"/>
            <a:ext cx="4206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1" name="Shape 39"/>
          <p:cNvSpPr/>
          <p:nvPr/>
        </p:nvSpPr>
        <p:spPr>
          <a:xfrm>
            <a:off x="731520" y="2980944"/>
            <a:ext cx="164592" cy="164592"/>
          </a:xfrm>
          <a:prstGeom prst="ellipse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2" name="Text 40"/>
          <p:cNvSpPr/>
          <p:nvPr/>
        </p:nvSpPr>
        <p:spPr>
          <a:xfrm>
            <a:off x="960120" y="29352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sử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331720" y="29352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Đau âm ỉ thượng vị, lan ra sau lưng, kèm buồn nôn…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" y="3282696"/>
            <a:ext cx="4206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5" name="Shape 43"/>
          <p:cNvSpPr/>
          <p:nvPr/>
        </p:nvSpPr>
        <p:spPr>
          <a:xfrm>
            <a:off x="731520" y="3374136"/>
            <a:ext cx="164592" cy="164592"/>
          </a:xfrm>
          <a:prstGeom prst="ellipse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6" name="Text 44"/>
          <p:cNvSpPr/>
          <p:nvPr/>
        </p:nvSpPr>
        <p:spPr>
          <a:xfrm>
            <a:off x="960120" y="33284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sử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331720" y="33284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Viêm dạ dày HP+ điều trị 2023, đang dùng NSAID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0080" y="3675888"/>
            <a:ext cx="4206240" cy="329184"/>
          </a:xfrm>
          <a:prstGeom prst="rect">
            <a:avLst/>
          </a:prstGeom>
          <a:solidFill>
            <a:srgbClr val="FFF8E1"/>
          </a:solidFill>
          <a:ln w="6350">
            <a:solidFill>
              <a:srgbClr val="E9A53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9" name="Shape 47"/>
          <p:cNvSpPr/>
          <p:nvPr/>
        </p:nvSpPr>
        <p:spPr>
          <a:xfrm>
            <a:off x="731520" y="3767328"/>
            <a:ext cx="164592" cy="164592"/>
          </a:xfrm>
          <a:prstGeom prst="ellipse">
            <a:avLst/>
          </a:prstGeom>
          <a:solidFill>
            <a:srgbClr val="E9A53A"/>
          </a:solidFill>
          <a:ln w="12700">
            <a:solidFill>
              <a:srgbClr val="E9A53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0" name="Text 48"/>
          <p:cNvSpPr/>
          <p:nvPr/>
        </p:nvSpPr>
        <p:spPr>
          <a:xfrm>
            <a:off x="960120" y="3721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lâm sàng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331720" y="37216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Cần bác sĩ bổ sung — ấn bụng, mạch, HA ]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080" y="4069080"/>
            <a:ext cx="4206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3" name="Shape 51"/>
          <p:cNvSpPr/>
          <p:nvPr/>
        </p:nvSpPr>
        <p:spPr>
          <a:xfrm>
            <a:off x="731520" y="4160520"/>
            <a:ext cx="164592" cy="164592"/>
          </a:xfrm>
          <a:prstGeom prst="ellipse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4" name="Text 52"/>
          <p:cNvSpPr/>
          <p:nvPr/>
        </p:nvSpPr>
        <p:spPr>
          <a:xfrm>
            <a:off x="960120" y="4114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Cận lâm sàng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331720" y="41148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CTM, men gan, HP test (gợi ý)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212080" y="1600200"/>
            <a:ext cx="3474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57" name="Shape 55"/>
          <p:cNvSpPr/>
          <p:nvPr/>
        </p:nvSpPr>
        <p:spPr>
          <a:xfrm>
            <a:off x="5212080" y="1600200"/>
            <a:ext cx="3474720" cy="320040"/>
          </a:xfrm>
          <a:prstGeom prst="rect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8" name="Text 56"/>
          <p:cNvSpPr/>
          <p:nvPr/>
        </p:nvSpPr>
        <p:spPr>
          <a:xfrm>
            <a:off x="539496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MedVita · Trợ lý hoàn thiện bệnh án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349240" y="2103120"/>
            <a:ext cx="32004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0" name="Text 58"/>
          <p:cNvSpPr/>
          <p:nvPr/>
        </p:nvSpPr>
        <p:spPr>
          <a:xfrm>
            <a:off x="5440680" y="2130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ơi, mình còn thiếu trường ‘Khám lâm sàng’. BS ấn bụng có điểm đau khu trú không ạ?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577840" y="2788920"/>
            <a:ext cx="2971800" cy="45720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2" name="Text 60"/>
          <p:cNvSpPr/>
          <p:nvPr/>
        </p:nvSpPr>
        <p:spPr>
          <a:xfrm>
            <a:off x="5669280" y="2807208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Ấn thượng vị đau, không có phản ứng thành bụng. Mạch 84, HA 120/80.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349240" y="3337560"/>
            <a:ext cx="3200400" cy="502920"/>
          </a:xfrm>
          <a:prstGeom prst="rect">
            <a:avLst/>
          </a:prstGeom>
          <a:solidFill>
            <a:srgbClr val="E0F2EF"/>
          </a:solidFill>
          <a:ln w="635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4" name="Text 62"/>
          <p:cNvSpPr/>
          <p:nvPr/>
        </p:nvSpPr>
        <p:spPr>
          <a:xfrm>
            <a:off x="5440680" y="3364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điền xong. Bệnh án đầy đủ — mời BS xem lại và ký.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349240" y="3977640"/>
            <a:ext cx="3200400" cy="50292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6" name="Text 64"/>
          <p:cNvSpPr/>
          <p:nvPr/>
        </p:nvSpPr>
        <p:spPr>
          <a:xfrm>
            <a:off x="5440680" y="3995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sĩ chỉ duyệt và ký — không gõ tay nguyên bệnh án.</a:t>
            </a:r>
            <a:endParaRPr lang="en-US" sz="1000" dirty="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73AF9C58-7E32-EC83-3138-6C43BA01D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326967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với hệ thống bệnh viện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MedVita gắn vào HIS / EMR sẵn có — không thay đổi quy trình hiện hữu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2011680"/>
            <a:ext cx="1417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FCA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1005840" y="2176272"/>
            <a:ext cx="502920" cy="502920"/>
          </a:xfrm>
          <a:prstGeom prst="ellipse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2286000"/>
            <a:ext cx="292608" cy="29260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48640" y="27249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nhân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48640" y="2926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 / Web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984248" y="2560320"/>
            <a:ext cx="146304" cy="0"/>
          </a:xfrm>
          <a:prstGeom prst="line">
            <a:avLst/>
          </a:prstGeom>
          <a:noFill/>
          <a:ln w="1905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824" y="2496312"/>
            <a:ext cx="128016" cy="128016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2148840" y="2011680"/>
            <a:ext cx="1417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54D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7" name="Shape 33"/>
          <p:cNvSpPr/>
          <p:nvPr/>
        </p:nvSpPr>
        <p:spPr>
          <a:xfrm>
            <a:off x="2606040" y="2176272"/>
            <a:ext cx="502920" cy="502920"/>
          </a:xfrm>
          <a:prstGeom prst="ellipse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1196" y="2286000"/>
            <a:ext cx="292608" cy="29260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2148840" y="27249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sĩ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2148840" y="2926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khám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3584448" y="2560320"/>
            <a:ext cx="146304" cy="0"/>
          </a:xfrm>
          <a:prstGeom prst="line">
            <a:avLst/>
          </a:prstGeom>
          <a:noFill/>
          <a:ln w="1905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2496312"/>
            <a:ext cx="128016" cy="128016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3749040" y="2011680"/>
            <a:ext cx="1417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5DA03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4" name="Shape 38"/>
          <p:cNvSpPr/>
          <p:nvPr/>
        </p:nvSpPr>
        <p:spPr>
          <a:xfrm>
            <a:off x="4206240" y="2176272"/>
            <a:ext cx="502920" cy="502920"/>
          </a:xfrm>
          <a:prstGeom prst="ellipse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1396" y="2286000"/>
            <a:ext cx="292608" cy="29260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3749040" y="27249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MedVita AI</a:t>
            </a:r>
            <a:endParaRPr lang="en-US" sz="1150" dirty="0"/>
          </a:p>
        </p:txBody>
      </p:sp>
      <p:sp>
        <p:nvSpPr>
          <p:cNvPr id="47" name="Text 40"/>
          <p:cNvSpPr/>
          <p:nvPr/>
        </p:nvSpPr>
        <p:spPr>
          <a:xfrm>
            <a:off x="3749040" y="2926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xử lý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5184648" y="2560320"/>
            <a:ext cx="146304" cy="0"/>
          </a:xfrm>
          <a:prstGeom prst="line">
            <a:avLst/>
          </a:prstGeom>
          <a:noFill/>
          <a:ln w="1905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4" y="2496312"/>
            <a:ext cx="128016" cy="128016"/>
          </a:xfrm>
          <a:prstGeom prst="rect">
            <a:avLst/>
          </a:prstGeom>
        </p:spPr>
      </p:pic>
      <p:sp>
        <p:nvSpPr>
          <p:cNvPr id="50" name="Shape 42"/>
          <p:cNvSpPr/>
          <p:nvPr/>
        </p:nvSpPr>
        <p:spPr>
          <a:xfrm>
            <a:off x="5349240" y="2011680"/>
            <a:ext cx="1417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7EC34D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51" name="Shape 43"/>
          <p:cNvSpPr/>
          <p:nvPr/>
        </p:nvSpPr>
        <p:spPr>
          <a:xfrm>
            <a:off x="5806440" y="2176272"/>
            <a:ext cx="502920" cy="502920"/>
          </a:xfrm>
          <a:prstGeom prst="ellipse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1596" y="2286000"/>
            <a:ext cx="292608" cy="292608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5349240" y="27249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/ EMR</a:t>
            </a:r>
            <a:endParaRPr lang="en-US" sz="1150" dirty="0"/>
          </a:p>
        </p:txBody>
      </p:sp>
      <p:sp>
        <p:nvSpPr>
          <p:cNvPr id="54" name="Text 45"/>
          <p:cNvSpPr/>
          <p:nvPr/>
        </p:nvSpPr>
        <p:spPr>
          <a:xfrm>
            <a:off x="5349240" y="2926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viện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6784848" y="2560320"/>
            <a:ext cx="146304" cy="0"/>
          </a:xfrm>
          <a:prstGeom prst="line">
            <a:avLst/>
          </a:prstGeom>
          <a:noFill/>
          <a:ln w="1905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496312"/>
            <a:ext cx="128016" cy="128016"/>
          </a:xfrm>
          <a:prstGeom prst="rect">
            <a:avLst/>
          </a:prstGeom>
        </p:spPr>
      </p:pic>
      <p:sp>
        <p:nvSpPr>
          <p:cNvPr id="57" name="Shape 47"/>
          <p:cNvSpPr/>
          <p:nvPr/>
        </p:nvSpPr>
        <p:spPr>
          <a:xfrm>
            <a:off x="6949440" y="2011680"/>
            <a:ext cx="1417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7EC34D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58" name="Shape 48"/>
          <p:cNvSpPr/>
          <p:nvPr/>
        </p:nvSpPr>
        <p:spPr>
          <a:xfrm>
            <a:off x="7406640" y="2176272"/>
            <a:ext cx="502920" cy="502920"/>
          </a:xfrm>
          <a:prstGeom prst="ellipse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1796" y="2286000"/>
            <a:ext cx="292608" cy="292608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6949440" y="27249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&amp; BI</a:t>
            </a:r>
            <a:endParaRPr lang="en-US" sz="1150" dirty="0"/>
          </a:p>
        </p:txBody>
      </p:sp>
      <p:sp>
        <p:nvSpPr>
          <p:cNvPr id="61" name="Text 50"/>
          <p:cNvSpPr/>
          <p:nvPr/>
        </p:nvSpPr>
        <p:spPr>
          <a:xfrm>
            <a:off x="6949440" y="2926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457200" y="370332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3" name="Shape 52"/>
          <p:cNvSpPr/>
          <p:nvPr/>
        </p:nvSpPr>
        <p:spPr>
          <a:xfrm>
            <a:off x="457200" y="3703320"/>
            <a:ext cx="54864" cy="86868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4" name="Text 53"/>
          <p:cNvSpPr/>
          <p:nvPr/>
        </p:nvSpPr>
        <p:spPr>
          <a:xfrm>
            <a:off x="621792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chuẩn HL7 / FHIR</a:t>
            </a:r>
            <a:endParaRPr lang="en-US" sz="1150" dirty="0"/>
          </a:p>
        </p:txBody>
      </p:sp>
      <p:sp>
        <p:nvSpPr>
          <p:cNvPr id="65" name="Text 54"/>
          <p:cNvSpPr/>
          <p:nvPr/>
        </p:nvSpPr>
        <p:spPr>
          <a:xfrm>
            <a:off x="621792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kết nối các HIS phổ biến tại Việt Nam.</a:t>
            </a:r>
            <a:endParaRPr lang="en-US" sz="1000" dirty="0"/>
          </a:p>
        </p:txBody>
      </p:sp>
      <p:sp>
        <p:nvSpPr>
          <p:cNvPr id="66" name="Shape 55"/>
          <p:cNvSpPr/>
          <p:nvPr/>
        </p:nvSpPr>
        <p:spPr>
          <a:xfrm>
            <a:off x="3246120" y="370332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7" name="Shape 56"/>
          <p:cNvSpPr/>
          <p:nvPr/>
        </p:nvSpPr>
        <p:spPr>
          <a:xfrm>
            <a:off x="3246120" y="3703320"/>
            <a:ext cx="54864" cy="86868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8" name="Text 57"/>
          <p:cNvSpPr/>
          <p:nvPr/>
        </p:nvSpPr>
        <p:spPr>
          <a:xfrm>
            <a:off x="3410712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On-prem hoặc Cloud</a:t>
            </a:r>
            <a:endParaRPr lang="en-US" sz="1150" dirty="0"/>
          </a:p>
        </p:txBody>
      </p:sp>
      <p:sp>
        <p:nvSpPr>
          <p:cNvPr id="69" name="Text 58"/>
          <p:cNvSpPr/>
          <p:nvPr/>
        </p:nvSpPr>
        <p:spPr>
          <a:xfrm>
            <a:off x="3410712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Tuỳ chính sách dữ liệu của bệnh viện.</a:t>
            </a:r>
            <a:endParaRPr lang="en-US" sz="1000" dirty="0"/>
          </a:p>
        </p:txBody>
      </p:sp>
      <p:sp>
        <p:nvSpPr>
          <p:cNvPr id="70" name="Shape 59"/>
          <p:cNvSpPr/>
          <p:nvPr/>
        </p:nvSpPr>
        <p:spPr>
          <a:xfrm>
            <a:off x="6035040" y="370332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1" name="Shape 60"/>
          <p:cNvSpPr/>
          <p:nvPr/>
        </p:nvSpPr>
        <p:spPr>
          <a:xfrm>
            <a:off x="6035040" y="3703320"/>
            <a:ext cx="54864" cy="86868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2" name="Text 61"/>
          <p:cNvSpPr/>
          <p:nvPr/>
        </p:nvSpPr>
        <p:spPr>
          <a:xfrm>
            <a:off x="6199632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bệnh án theo viện</a:t>
            </a:r>
            <a:endParaRPr lang="en-US" sz="1150" dirty="0"/>
          </a:p>
        </p:txBody>
      </p:sp>
      <p:sp>
        <p:nvSpPr>
          <p:cNvPr id="73" name="Text 62"/>
          <p:cNvSpPr/>
          <p:nvPr/>
        </p:nvSpPr>
        <p:spPr>
          <a:xfrm>
            <a:off x="6199632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theo mẫu, không ép quy trình.</a:t>
            </a:r>
            <a:endParaRPr lang="en-US" sz="1000" dirty="0"/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30BD0B37-C41E-8CCB-654C-136CFA9FC6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5760" y="326967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&amp; Bảo mật dữ liệu y tế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bệnh nhân không rời khỏi vòng kiểm soát của bệnh viện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1600200"/>
            <a:ext cx="2743200" cy="301752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2743200" cy="4572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74520"/>
            <a:ext cx="914400" cy="9144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64008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D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bảo mật từ tầng dữ liệu — không phải bổ sung sau cùng.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474720" y="160020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5" name="Shape 32"/>
          <p:cNvSpPr/>
          <p:nvPr/>
        </p:nvSpPr>
        <p:spPr>
          <a:xfrm>
            <a:off x="3657600" y="1801368"/>
            <a:ext cx="457200" cy="45720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92808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425196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On-prem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365760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đặt trong bệnh viện — dữ liệu BN không gửi ra ngoài.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172200" y="160020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0" name="Shape 36"/>
          <p:cNvSpPr/>
          <p:nvPr/>
        </p:nvSpPr>
        <p:spPr>
          <a:xfrm>
            <a:off x="6355080" y="1801368"/>
            <a:ext cx="457200" cy="45720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92808"/>
            <a:ext cx="274320" cy="27432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94944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hoá end-to-end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635508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hoá khi lưu trữ và khi truyền — TLS 1.3, AES-256.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474720" y="315468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5" name="Shape 40"/>
          <p:cNvSpPr/>
          <p:nvPr/>
        </p:nvSpPr>
        <p:spPr>
          <a:xfrm>
            <a:off x="3657600" y="3355848"/>
            <a:ext cx="457200" cy="45720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447288"/>
            <a:ext cx="274320" cy="27432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425196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&amp; Audit log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3657600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vai trò bác sĩ / điều dưỡng / quản trị, ghi log mọi thao tác.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6172200" y="315468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50" name="Shape 44"/>
          <p:cNvSpPr/>
          <p:nvPr/>
        </p:nvSpPr>
        <p:spPr>
          <a:xfrm>
            <a:off x="6355080" y="3355848"/>
            <a:ext cx="457200" cy="45720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447288"/>
            <a:ext cx="274320" cy="27432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694944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pháp lý VN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6355080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KCB, Luật An toàn TT mạng, Nghị định 13 về dữ liệu cá nhân.</a:t>
            </a:r>
            <a:endParaRPr lang="en-US" sz="1000" dirty="0"/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A5D19469-8210-D81A-3652-648E20114E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760" y="326967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dự kiến cho bệnh viện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minh hoạ — dựa trên 100 bác sĩ, 20 ca khám/ngày/BS, 250 ngày/năm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1600200"/>
            <a:ext cx="5029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0" name="Text 28"/>
          <p:cNvSpPr/>
          <p:nvPr/>
        </p:nvSpPr>
        <p:spPr>
          <a:xfrm>
            <a:off x="64008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bác sĩ tiết kiệm được (giờ/năm) theo % cải thiện</a:t>
            </a:r>
            <a:endParaRPr lang="en-US" sz="12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548640" y="2011680"/>
          <a:ext cx="48463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5669280" y="1600200"/>
            <a:ext cx="3017520" cy="301752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3" name="Shape 30"/>
          <p:cNvSpPr/>
          <p:nvPr/>
        </p:nvSpPr>
        <p:spPr>
          <a:xfrm>
            <a:off x="5669280" y="1600200"/>
            <a:ext cx="3017520" cy="9144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Text 31"/>
          <p:cNvSpPr/>
          <p:nvPr/>
        </p:nvSpPr>
        <p:spPr>
          <a:xfrm>
            <a:off x="589788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đổi giá trị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897880" y="2788920"/>
            <a:ext cx="2743200" cy="0"/>
          </a:xfrm>
          <a:prstGeom prst="line">
            <a:avLst/>
          </a:prstGeom>
          <a:noFill/>
          <a:ln w="6350">
            <a:solidFill>
              <a:srgbClr val="7B8FCA"/>
            </a:solidFill>
            <a:prstDash val="dash"/>
          </a:ln>
        </p:spPr>
        <p:txBody>
          <a:bodyPr/>
          <a:lstStyle/>
          <a:p>
            <a:endParaRPr lang="en-VN"/>
          </a:p>
        </p:txBody>
      </p:sp>
      <p:sp>
        <p:nvSpPr>
          <p:cNvPr id="36" name="Text 33"/>
          <p:cNvSpPr/>
          <p:nvPr/>
        </p:nvSpPr>
        <p:spPr>
          <a:xfrm>
            <a:off x="5897880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EC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+15–25%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17804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suất khám tiềm năng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897880" y="3337560"/>
            <a:ext cx="2743200" cy="0"/>
          </a:xfrm>
          <a:prstGeom prst="line">
            <a:avLst/>
          </a:prstGeom>
          <a:noFill/>
          <a:ln w="6350">
            <a:solidFill>
              <a:srgbClr val="7B8FCA"/>
            </a:solidFill>
            <a:prstDash val="dash"/>
          </a:ln>
        </p:spPr>
        <p:txBody>
          <a:bodyPr/>
          <a:lstStyle/>
          <a:p>
            <a:endParaRPr lang="en-VN"/>
          </a:p>
        </p:txBody>
      </p:sp>
      <p:sp>
        <p:nvSpPr>
          <p:cNvPr id="39" name="Text 36"/>
          <p:cNvSpPr/>
          <p:nvPr/>
        </p:nvSpPr>
        <p:spPr>
          <a:xfrm>
            <a:off x="589788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EC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−30–40%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7178040" y="2880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thủ tục mỗi ca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897880" y="3886200"/>
            <a:ext cx="2743200" cy="0"/>
          </a:xfrm>
          <a:prstGeom prst="line">
            <a:avLst/>
          </a:prstGeom>
          <a:noFill/>
          <a:ln w="6350">
            <a:solidFill>
              <a:srgbClr val="7B8FCA"/>
            </a:solidFill>
            <a:prstDash val="dash"/>
          </a:ln>
        </p:spPr>
        <p:txBody>
          <a:bodyPr/>
          <a:lstStyle/>
          <a:p>
            <a:endParaRPr lang="en-VN"/>
          </a:p>
        </p:txBody>
      </p:sp>
      <p:sp>
        <p:nvSpPr>
          <p:cNvPr id="42" name="Text 39"/>
          <p:cNvSpPr/>
          <p:nvPr/>
        </p:nvSpPr>
        <p:spPr>
          <a:xfrm>
            <a:off x="5897880" y="3383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EC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7178040" y="3429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bệnh án được điền tự động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5897880" y="4434840"/>
            <a:ext cx="2743200" cy="0"/>
          </a:xfrm>
          <a:prstGeom prst="line">
            <a:avLst/>
          </a:prstGeom>
          <a:noFill/>
          <a:ln w="6350">
            <a:solidFill>
              <a:srgbClr val="7B8FCA"/>
            </a:solidFill>
            <a:prstDash val="dash"/>
          </a:ln>
        </p:spPr>
        <p:txBody>
          <a:bodyPr/>
          <a:lstStyle/>
          <a:p>
            <a:endParaRPr lang="en-VN"/>
          </a:p>
        </p:txBody>
      </p:sp>
      <p:sp>
        <p:nvSpPr>
          <p:cNvPr id="45" name="Text 42"/>
          <p:cNvSpPr/>
          <p:nvPr/>
        </p:nvSpPr>
        <p:spPr>
          <a:xfrm>
            <a:off x="589788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EC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hơn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7178040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hài lòng BN &amp; bác sĩ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Mô hình minh hoạ — sẽ được hiệu chỉnh theo dữ liệu thực tế của bệnh viện sau pilot.</a:t>
            </a:r>
            <a:endParaRPr lang="en-US" sz="800" dirty="0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F3E11767-47A6-8B07-10FE-E6411A461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326967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triển khai (18 tháng)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hành cùng 1 bệnh viện đối tác — từ khảo sát, pilot đến nhân rộng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" y="2377440"/>
            <a:ext cx="7315200" cy="0"/>
          </a:xfrm>
          <a:prstGeom prst="line">
            <a:avLst/>
          </a:prstGeom>
          <a:noFill/>
          <a:ln w="254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1828800" y="2267712"/>
            <a:ext cx="219456" cy="219456"/>
          </a:xfrm>
          <a:prstGeom prst="ellipse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640080" y="2697480"/>
            <a:ext cx="26060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2" name="Shape 30"/>
          <p:cNvSpPr/>
          <p:nvPr/>
        </p:nvSpPr>
        <p:spPr>
          <a:xfrm>
            <a:off x="640080" y="2697480"/>
            <a:ext cx="2606040" cy="73152"/>
          </a:xfrm>
          <a:prstGeom prst="rect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Text 31"/>
          <p:cNvSpPr/>
          <p:nvPr/>
        </p:nvSpPr>
        <p:spPr>
          <a:xfrm>
            <a:off x="777240" y="1691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8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19476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06/2026 – 11/2026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" y="2834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&amp; Chuẩn bị dữ liệu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04672" y="32004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workflow tại các khoa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&amp; chuẩn hoá dataset y khoa tiếng Việt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 mô hình ASR / NLU lõi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2267712"/>
            <a:ext cx="219456" cy="219456"/>
          </a:xfrm>
          <a:prstGeom prst="ellipse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Shape 36"/>
          <p:cNvSpPr/>
          <p:nvPr/>
        </p:nvSpPr>
        <p:spPr>
          <a:xfrm>
            <a:off x="3429000" y="2697480"/>
            <a:ext cx="26060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9" name="Shape 37"/>
          <p:cNvSpPr/>
          <p:nvPr/>
        </p:nvSpPr>
        <p:spPr>
          <a:xfrm>
            <a:off x="3429000" y="2697480"/>
            <a:ext cx="2606040" cy="73152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0" name="Text 38"/>
          <p:cNvSpPr/>
          <p:nvPr/>
        </p:nvSpPr>
        <p:spPr>
          <a:xfrm>
            <a:off x="3566160" y="1691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566160" y="19476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12/2026 – 05/2027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66160" y="2834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triển &amp; Pilot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593592" y="32004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hệ thống MedVita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với HIS bệnh viện đối tác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tại 1–2 khoa, đo hiệu quả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06640" y="2267712"/>
            <a:ext cx="219456" cy="219456"/>
          </a:xfrm>
          <a:prstGeom prst="ellipse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5" name="Shape 43"/>
          <p:cNvSpPr/>
          <p:nvPr/>
        </p:nvSpPr>
        <p:spPr>
          <a:xfrm>
            <a:off x="6217920" y="2697480"/>
            <a:ext cx="26060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6" name="Shape 44"/>
          <p:cNvSpPr/>
          <p:nvPr/>
        </p:nvSpPr>
        <p:spPr>
          <a:xfrm>
            <a:off x="6217920" y="2697480"/>
            <a:ext cx="2606040" cy="73152"/>
          </a:xfrm>
          <a:prstGeom prst="rect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7" name="Text 45"/>
          <p:cNvSpPr/>
          <p:nvPr/>
        </p:nvSpPr>
        <p:spPr>
          <a:xfrm>
            <a:off x="6355080" y="1691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55080" y="19476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06/2027 – 11/2027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55080" y="2834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&amp; Mở rộng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382512" y="32004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hiệu quả lâm sàng và kinh doanh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mô hình theo phản hồi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nhân rộng các khoa khác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21945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EC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NAY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77240" y="2322576"/>
            <a:ext cx="109728" cy="109728"/>
          </a:xfrm>
          <a:prstGeom prst="ellipse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65378C19-BA20-AE69-2D02-91A111163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326967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lực Trivita AI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ngũ nghiên cứu xuất bản tại các hội nghị AI hàng đầu — chuyên sâu y tế &amp; vision-language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158363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685800" y="1874520"/>
            <a:ext cx="502920" cy="502920"/>
          </a:xfrm>
          <a:prstGeom prst="ellipse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3246120" y="160020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2" name="Shape 30"/>
          <p:cNvSpPr/>
          <p:nvPr/>
        </p:nvSpPr>
        <p:spPr>
          <a:xfrm>
            <a:off x="3474720" y="1874520"/>
            <a:ext cx="502920" cy="502920"/>
          </a:xfrm>
          <a:prstGeom prst="ellipse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Shape 31"/>
          <p:cNvSpPr/>
          <p:nvPr/>
        </p:nvSpPr>
        <p:spPr>
          <a:xfrm>
            <a:off x="6035040" y="160020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4" name="Shape 32"/>
          <p:cNvSpPr/>
          <p:nvPr/>
        </p:nvSpPr>
        <p:spPr>
          <a:xfrm>
            <a:off x="6263640" y="1874520"/>
            <a:ext cx="502920" cy="502920"/>
          </a:xfrm>
          <a:prstGeom prst="ellipse">
            <a:avLst/>
          </a:prstGeom>
          <a:solidFill>
            <a:srgbClr val="5DA032"/>
          </a:solidFill>
          <a:ln w="12700">
            <a:solidFill>
              <a:srgbClr val="5DA0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75104"/>
            <a:ext cx="301752" cy="30175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32588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548640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AI Conference and Journal </a:t>
            </a:r>
            <a:r>
              <a:rPr lang="en-US" sz="10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thế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</a:t>
            </a:r>
            <a:b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b="1" dirty="0">
                <a:solidFill>
                  <a:srgbClr val="404040"/>
                </a:solidFill>
                <a:ea typeface="Calibri"/>
                <a:cs typeface="Calibri"/>
              </a:rPr>
              <a:t> </a:t>
            </a:r>
            <a:r>
              <a:rPr lang="en-US" sz="1050" b="1" dirty="0" err="1">
                <a:solidFill>
                  <a:srgbClr val="404040"/>
                </a:solidFill>
                <a:ea typeface="Calibri"/>
                <a:cs typeface="Calibri"/>
              </a:rPr>
              <a:t>NeurIPS</a:t>
            </a:r>
            <a:r>
              <a:rPr lang="en-US" sz="1050" b="1" dirty="0">
                <a:solidFill>
                  <a:srgbClr val="404040"/>
                </a:solidFill>
                <a:ea typeface="Calibri"/>
                <a:cs typeface="Calibri"/>
              </a:rPr>
              <a:t> / ICLR /  ICML/  JMLR</a:t>
            </a:r>
            <a:endParaRPr lang="en-US" sz="1050" b="1" dirty="0"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105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975104"/>
            <a:ext cx="301752" cy="30175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4114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8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khoa</a:t>
            </a:r>
            <a:endParaRPr lang="en-US" sz="2200" dirty="0"/>
          </a:p>
        </p:txBody>
      </p:sp>
      <p:sp>
        <p:nvSpPr>
          <p:cNvPr id="40" name="Text 36"/>
          <p:cNvSpPr/>
          <p:nvPr/>
        </p:nvSpPr>
        <p:spPr>
          <a:xfrm>
            <a:off x="347472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Models y tế (LVM-Med, ExGra-Med)</a:t>
            </a:r>
            <a:endParaRPr lang="en-US" sz="1050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975104"/>
            <a:ext cx="301752" cy="30175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90372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Việt Nam</a:t>
            </a:r>
            <a:endParaRPr lang="en-US" sz="2200" dirty="0"/>
          </a:p>
        </p:txBody>
      </p:sp>
      <p:sp>
        <p:nvSpPr>
          <p:cNvPr id="43" name="Text 38"/>
          <p:cNvSpPr/>
          <p:nvPr/>
        </p:nvSpPr>
        <p:spPr>
          <a:xfrm>
            <a:off x="626364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ngôn ngữ y khoa tiếng Việt — lợi thế bản địa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457200" y="3200400"/>
            <a:ext cx="8229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5" name="Shape 40"/>
          <p:cNvSpPr/>
          <p:nvPr/>
        </p:nvSpPr>
        <p:spPr>
          <a:xfrm>
            <a:off x="457200" y="3200400"/>
            <a:ext cx="91440" cy="1508760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6" name="Text 41"/>
          <p:cNvSpPr/>
          <p:nvPr/>
        </p:nvSpPr>
        <p:spPr>
          <a:xfrm>
            <a:off x="685800" y="3273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số công trình tiêu biểu liên quan tới MedVita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777240" y="3584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2023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2194560" y="35844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LVM-Med: Self-Supervised Vision Models for Medical Imaging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777240" y="3803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2024</a:t>
            </a:r>
            <a:endParaRPr lang="en-US" sz="950" dirty="0"/>
          </a:p>
        </p:txBody>
      </p:sp>
      <p:sp>
        <p:nvSpPr>
          <p:cNvPr id="50" name="Text 45"/>
          <p:cNvSpPr/>
          <p:nvPr/>
        </p:nvSpPr>
        <p:spPr>
          <a:xfrm>
            <a:off x="2194560" y="3803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FuseMoE: Mixture-of-Experts Transformers for Fleximodal Fusion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777240" y="4023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2025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2194560" y="40233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ExGra-Med: Extended Context Graph Alignment for Medical Vision-Language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777240" y="4242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TMLR 2025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2194560" y="4242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MGPATH: Vision-language model with multi-granular prompt for pathology</a:t>
            </a:r>
            <a:endParaRPr lang="en-US" sz="950" dirty="0"/>
          </a:p>
        </p:txBody>
      </p:sp>
      <p:sp>
        <p:nvSpPr>
          <p:cNvPr id="55" name="Text 50"/>
          <p:cNvSpPr/>
          <p:nvPr/>
        </p:nvSpPr>
        <p:spPr>
          <a:xfrm>
            <a:off x="777240" y="44622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2026</a:t>
            </a:r>
            <a:endParaRPr lang="en-US" sz="950" dirty="0"/>
          </a:p>
        </p:txBody>
      </p:sp>
      <p:sp>
        <p:nvSpPr>
          <p:cNvPr id="56" name="Text 51"/>
          <p:cNvSpPr/>
          <p:nvPr/>
        </p:nvSpPr>
        <p:spPr>
          <a:xfrm>
            <a:off x="2194560" y="44622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Visual Prompt Tuning · One-Prompt Strikes Back (continual learning)</a:t>
            </a:r>
            <a:endParaRPr lang="en-US" sz="950" dirty="0"/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7C625FDD-65F1-C67A-2A5A-C5B94A6F73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760" y="326967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95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80924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827532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45820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64108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82396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9006840" y="27432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80924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27532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45820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64108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82396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9006840" y="45720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9095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0924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827532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45820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4108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2396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9006840" y="640080"/>
            <a:ext cx="91440" cy="91440"/>
          </a:xfrm>
          <a:prstGeom prst="ellipse">
            <a:avLst/>
          </a:prstGeom>
          <a:solidFill>
            <a:srgbClr val="D4DCF4"/>
          </a:solidFill>
          <a:ln w="12700">
            <a:solidFill>
              <a:srgbClr val="D4DCF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thế cạnh tranh tại thị trường Việt Nam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một bệnh viện VN nên chọn MedVita thay vì giải pháp nước ngoài (ví dụ Abridge, định giá ~5,3 tỷ USD)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1828800"/>
            <a:ext cx="269748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365760" y="1828800"/>
            <a:ext cx="91440" cy="141732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594360" y="19933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bệnh án Việt Nam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" y="235915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mẫu BYT và mẫu riêng từng viện — không phải mẫu form Mỹ. Toàn bộ trường thông tin theo quy định trong nước.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0" y="1828800"/>
            <a:ext cx="269748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Shape 32"/>
          <p:cNvSpPr/>
          <p:nvPr/>
        </p:nvSpPr>
        <p:spPr>
          <a:xfrm>
            <a:off x="3200400" y="1828800"/>
            <a:ext cx="91440" cy="1417320"/>
          </a:xfrm>
          <a:prstGeom prst="rect">
            <a:avLst/>
          </a:prstGeom>
          <a:solidFill>
            <a:srgbClr val="7B8FCA"/>
          </a:solidFill>
          <a:ln w="12700">
            <a:solidFill>
              <a:srgbClr val="7B8F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Text 33"/>
          <p:cNvSpPr/>
          <p:nvPr/>
        </p:nvSpPr>
        <p:spPr>
          <a:xfrm>
            <a:off x="3429000" y="19933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 y khoa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29000" y="235915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ASR/NLU tinh chỉnh cho thuật ngữ y khoa tiếng Việt và phương ngữ Bắc-Trung-Nam. Lợi thế dữ liệu bản địa.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35040" y="1828800"/>
            <a:ext cx="269748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Shape 36"/>
          <p:cNvSpPr/>
          <p:nvPr/>
        </p:nvSpPr>
        <p:spPr>
          <a:xfrm>
            <a:off x="6035040" y="1828800"/>
            <a:ext cx="91440" cy="1417320"/>
          </a:xfrm>
          <a:prstGeom prst="rect">
            <a:avLst/>
          </a:prstGeom>
          <a:solidFill>
            <a:srgbClr val="7EC34D"/>
          </a:solidFill>
          <a:ln w="12700">
            <a:solidFill>
              <a:srgbClr val="7EC34D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Text 37"/>
          <p:cNvSpPr/>
          <p:nvPr/>
        </p:nvSpPr>
        <p:spPr>
          <a:xfrm>
            <a:off x="6263640" y="19933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tại chỗ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63640" y="235915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ngũ Trivita AI tại VN — pilot, tích hợp HIS, đào tạo, fine-tune theo phản hồi đều trực tiếp tại bệnh viện.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3383280"/>
            <a:ext cx="2743200" cy="292608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2" name="Shape 40"/>
          <p:cNvSpPr/>
          <p:nvPr/>
        </p:nvSpPr>
        <p:spPr>
          <a:xfrm>
            <a:off x="3108960" y="3383280"/>
            <a:ext cx="2468880" cy="292608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3" name="Shape 41"/>
          <p:cNvSpPr/>
          <p:nvPr/>
        </p:nvSpPr>
        <p:spPr>
          <a:xfrm>
            <a:off x="5577840" y="3383280"/>
            <a:ext cx="2834640" cy="292608"/>
          </a:xfrm>
          <a:prstGeom prst="rect">
            <a:avLst/>
          </a:prstGeom>
          <a:solidFill>
            <a:srgbClr val="354DA0"/>
          </a:solidFill>
          <a:ln w="12700">
            <a:solidFill>
              <a:srgbClr val="354DA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4" name="Text 42"/>
          <p:cNvSpPr/>
          <p:nvPr/>
        </p:nvSpPr>
        <p:spPr>
          <a:xfrm>
            <a:off x="475488" y="341985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18688" y="341985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MedVita (Trivita AI)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87568" y="341985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Abridge (US)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3675888"/>
            <a:ext cx="274320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8" name="Shape 46"/>
          <p:cNvSpPr/>
          <p:nvPr/>
        </p:nvSpPr>
        <p:spPr>
          <a:xfrm>
            <a:off x="3108960" y="3675888"/>
            <a:ext cx="246888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9" name="Shape 47"/>
          <p:cNvSpPr/>
          <p:nvPr/>
        </p:nvSpPr>
        <p:spPr>
          <a:xfrm>
            <a:off x="5577840" y="3675888"/>
            <a:ext cx="283464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0" name="Text 48"/>
          <p:cNvSpPr/>
          <p:nvPr/>
        </p:nvSpPr>
        <p:spPr>
          <a:xfrm>
            <a:off x="475488" y="370332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bệnh án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18688" y="370332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 BYT &amp; form viện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87568" y="370332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mẫu Mỹ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913632"/>
            <a:ext cx="2743200" cy="237744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4" name="Shape 52"/>
          <p:cNvSpPr/>
          <p:nvPr/>
        </p:nvSpPr>
        <p:spPr>
          <a:xfrm>
            <a:off x="3108960" y="3913632"/>
            <a:ext cx="2468880" cy="237744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5" name="Shape 53"/>
          <p:cNvSpPr/>
          <p:nvPr/>
        </p:nvSpPr>
        <p:spPr>
          <a:xfrm>
            <a:off x="5577840" y="3913632"/>
            <a:ext cx="2834640" cy="237744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6" name="Text 54"/>
          <p:cNvSpPr/>
          <p:nvPr/>
        </p:nvSpPr>
        <p:spPr>
          <a:xfrm>
            <a:off x="475488" y="394106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 y khoa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218688" y="394106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Tiếng Việt chuyên sâu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687568" y="394106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Anh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" y="4151376"/>
            <a:ext cx="274320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0" name="Shape 58"/>
          <p:cNvSpPr/>
          <p:nvPr/>
        </p:nvSpPr>
        <p:spPr>
          <a:xfrm>
            <a:off x="3108960" y="4151376"/>
            <a:ext cx="246888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1" name="Shape 59"/>
          <p:cNvSpPr/>
          <p:nvPr/>
        </p:nvSpPr>
        <p:spPr>
          <a:xfrm>
            <a:off x="5577840" y="4151376"/>
            <a:ext cx="283464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2" name="Text 60"/>
          <p:cNvSpPr/>
          <p:nvPr/>
        </p:nvSpPr>
        <p:spPr>
          <a:xfrm>
            <a:off x="475488" y="417880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HIS VN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218688" y="417880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HL7/FHIR + tuỳ biến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687568" y="417880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ở VN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4389120"/>
            <a:ext cx="2743200" cy="237744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6" name="Shape 64"/>
          <p:cNvSpPr/>
          <p:nvPr/>
        </p:nvSpPr>
        <p:spPr>
          <a:xfrm>
            <a:off x="3108960" y="4389120"/>
            <a:ext cx="2468880" cy="237744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7" name="Shape 65"/>
          <p:cNvSpPr/>
          <p:nvPr/>
        </p:nvSpPr>
        <p:spPr>
          <a:xfrm>
            <a:off x="5577840" y="4389120"/>
            <a:ext cx="2834640" cy="237744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8" name="Text 66"/>
          <p:cNvSpPr/>
          <p:nvPr/>
        </p:nvSpPr>
        <p:spPr>
          <a:xfrm>
            <a:off x="475488" y="441655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on-prem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218688" y="4416552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Có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687568" y="441655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65760" y="4626864"/>
            <a:ext cx="274320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2" name="Shape 70"/>
          <p:cNvSpPr/>
          <p:nvPr/>
        </p:nvSpPr>
        <p:spPr>
          <a:xfrm>
            <a:off x="3108960" y="4626864"/>
            <a:ext cx="246888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3" name="Shape 71"/>
          <p:cNvSpPr/>
          <p:nvPr/>
        </p:nvSpPr>
        <p:spPr>
          <a:xfrm>
            <a:off x="5577840" y="4626864"/>
            <a:ext cx="2834640" cy="237744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4" name="Text 72"/>
          <p:cNvSpPr/>
          <p:nvPr/>
        </p:nvSpPr>
        <p:spPr>
          <a:xfrm>
            <a:off x="475488" y="465429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ngũ tại VN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218688" y="465429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A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Trực tiếp tại VN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687568" y="465429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1000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09E1AE7D-49CF-54D0-BBF5-8B0A7C26E7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326967"/>
            <a:ext cx="987510" cy="3131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5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498080" y="4114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7726680" y="4114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7955280" y="4114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8183880" y="4114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8412480" y="4114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641080" y="4114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8869680" y="4114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7498080" y="6400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7726680" y="6400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7955280" y="6400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8183880" y="6400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412480" y="6400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8641080" y="6400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8869680" y="6400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7498080" y="8686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7726680" y="8686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7955280" y="8686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Shape 19"/>
          <p:cNvSpPr/>
          <p:nvPr/>
        </p:nvSpPr>
        <p:spPr>
          <a:xfrm>
            <a:off x="8183880" y="8686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412480" y="8686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641080" y="8686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8869680" y="868680"/>
            <a:ext cx="118872" cy="118872"/>
          </a:xfrm>
          <a:prstGeom prst="ellipse">
            <a:avLst/>
          </a:prstGeom>
          <a:solidFill>
            <a:srgbClr val="4A62B5"/>
          </a:solidFill>
          <a:ln w="12700">
            <a:solidFill>
              <a:srgbClr val="4A62B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54864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hỏi?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548640" y="2542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EC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quý lãnh đạo bệnh viện đã dành thời gian.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 đề xuất: workshop khảo sát quy trình 1 buổi · pilot 1 khoa trong 6 tháng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520440"/>
            <a:ext cx="5029200" cy="10515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Text 27"/>
          <p:cNvSpPr/>
          <p:nvPr/>
        </p:nvSpPr>
        <p:spPr>
          <a:xfrm>
            <a:off x="7772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hệ với Trivita AI Research Team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3886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contact@trivita.ai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4187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pilot: 1 khoa · 6 tháng · báo cáo hiệu quả lâm sàng &amp; kinh doanh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D4D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MedVita · 2026</a:t>
            </a:r>
            <a:endParaRPr lang="en-US" sz="1000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7A23D2AF-6A9B-3132-07B6-8AB029247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316128"/>
            <a:ext cx="987510" cy="309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7B8FCA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2136</Words>
  <Application>Microsoft Macintosh PowerPoint</Application>
  <PresentationFormat>On-screen Show (16:9)</PresentationFormat>
  <Paragraphs>268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Trivita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MedVita - Trợ lý AI cho hồ sơ bệnh án điện tử</dc:title>
  <dc:subject>PptxGenJS Presentation</dc:subject>
  <dc:creator>Trivita AI</dc:creator>
  <cp:lastModifiedBy>Huy Nguyen Quoc</cp:lastModifiedBy>
  <cp:revision>3</cp:revision>
  <dcterms:created xsi:type="dcterms:W3CDTF">2026-05-06T03:20:14Z</dcterms:created>
  <dcterms:modified xsi:type="dcterms:W3CDTF">2026-05-06T04:37:07Z</dcterms:modified>
</cp:coreProperties>
</file>