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10"/>
  </p:normalViewPr>
  <p:slideViewPr>
    <p:cSldViewPr snapToGrid="0">
      <p:cViewPr varScale="1">
        <p:scale>
          <a:sx n="140" d="100"/>
          <a:sy n="140" d="100"/>
        </p:scale>
        <p:origin x="12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43:11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1004 427 24575,'-59'62'0,"18"-7"0,-2 11 0,0 4 0,-3 10 0,0 6-1188,12-17 1,1 5 0,-1 3 0,1 3 0,0 0 1187,-3 9 0,0 3 0,1 1 0,0 2 0,2 0 0,4-10 0,1 2 0,0 0 0,2 1 0,0 1 0,2 1 0,0 5 0,1 3 0,1 1 0,1 0 0,2-2 0,2-4 0,0 2 0,3-5 0,1 0 0,1 0 0,2 5 0,2 1 0,2 4 0,0 3 0,2-2 0,1-4 0,1-8 0,1 2 0,1-8 0,1-2 0,0 3 111,0 14 1,1 3-1,1-1 1,0-8-112,1-7 0,0-7 0,1 0 202,1-3 0,1-2 1,1 3-203,2 8 0,2 3 0,0-4 0,-1-15 0,-1-4 0,1 4 0,2 19 0,2 4 0,-2-3 0,-2-17 0,0-2 0,1 2 0,3 13 0,0 1 0,1-1 0,-1-7 0,1-1 0,0-3 0,8 19 0,0-3 0,-1-8 0,0-3 1455,-2-18 1,1 0-1456,6 17 0,2 4 0,-1 2 0,1 3 197,-7-15 1,-1 4 0,1 0-198,1-3 0,1-1 0,-2 0 0,-2-1 0,-1 0 0,1 0 0,4 4 0,1 0 0,0 0 0,-1-3 0,1 0 0,-2-2 0,8 27 0,0-4 372,-3-13 1,3-5-373,3-9 0,5-2 0,16 11 0,2-2 0,-9-15 0,2 1 0,-5-6 0,2 2 0,-3-4 0,-4-5 0,-1-2 0,9 14 0,3 2 0,0-4 0,3 1 0,10 9 0,4 3-67,-18-18 1,2 2-1,1 1 67,5 3 0,2 1 0,2 0 0,5 3 0,1 1 0,0-4 0,-6-7 0,0-4 0,3-1 0,9 1 0,3-2 0,7-1-740,-3-5 1,5-2 0,3 0 0,2 2 739,-10-5 0,2 1 0,2 0 0,2 2 0,3 2-457,-12-3 1,3 1 0,3 2 0,1 1 0,-1 0 0,-1 0 0,-3-1 456,2 2 0,-1-1 0,-2 0 0,0 0 0,1 1 0,2 2 0,-2-2 0,3 1 0,0 2 0,1 0 0,-1-1 0,-1-1 0,-3-2 0,-1-1 0,-1-1 0,-1-1 0,-1-1 0,-2-2 0,-2 0-512,19 8 1,-6-1-1,3-2 1,8-2 511,-19-11 0,7 0 0,4-1 0,1-1 0,-1-2 0,-6-3 0,-8-2 0,28 2 0,-11-6 0,11 1 0,-26-2 0,7 1 0,6 1 0,3-1 0,-1 0 0,-3-1 0,-7-3 0,7-1 0,-6-1 0,-2-3 0,1 0 0,4-1 0,-1 0 0,2 0 0,2-1 0,1-1 0,0 0 0,0-1 0,-2 0 0,0-1 0,0 0 0,1 0 0,1 0 0,3-1-281,-4 0 0,3 0 0,2 0 0,0 0 0,0 0 0,-1 0 0,-1 0 281,9 1 0,-1-1 0,0 0 0,-1 1 0,0-1 0,-1 2 0,-3-1 0,-1 2 0,-1-1 0,1 1 0,0-1 0,2 0 0,-8 0 0,3 1 0,1-1 0,-1 0 0,0 0 0,-3-1 0,-2 0 25,11-2 1,-3 0-1,-3-1 1,1-1-1,3 0-25,-7 1 0,2-1 0,0 0 0,1-1 0,-2-1 0,-3 0 0,6-3 0,-1-1 0,-3 0 0,-1 0 0,-3 0 0,5 1 0,-3 0 0,-1 0 0,3 1 233,-8 1 0,1 1 0,2 0 0,-1 0 1,-4 0-234,6 1 0,-4 0 0,1 0 0,3-1 0,-2 0 0,3-1 0,1-1 0,-1 1 0,-4-1 0,5-2 0,-5 0 0,1-1 0,5-1 88,3 0 1,5-2 0,2-1 0,-2 0 0,-5 0-89,-2 0 0,-4-1 0,-1 0 0,3 0 0,-8 2 0,2 0 0,1 0 0,0-1 0,0 0 0,17-3 0,1-2 0,-1 1 0,-3 1 0,-10 1 0,-3 2 0,1-1 0,2-1 0,-3 2 0,2-1 0,2-1 0,-2 1 0,-4 0 0,3 0 0,-4 0 0,0-1 0,3 0 406,12-5 0,3-1 0,0 0 0,-3-1-406,-14 3 0,-3 1 0,0-2 0,1-1 0,7-5 0,1-2 0,1-1 0,-2-4 0,1-3 0,-1-4 0,-2-1 0,-3 0 0,-13 6 0,-2 0 0,-1-1 0,-1-3 361,7-6 1,0-3 0,-2-1 0,-7 3-362,-5 1 0,-6 2 0,1-1 0,10-9 0,2-1 0,-1 1 0,-5 5 0,0 2 0,1-3 0,4-5 0,2-2 0,-3-4 0,-1-12 0,-3-4 0,-3-1 0,-8 7 0,-4 1 0,-1-6 0,-8 4 0,-2-5 0,-1 0 0,-2 4 0,-1 0 0,-2 5 0,1-3 0,5-13 0,1-3 0,-2 4 0,-5 12 0,-1 2 0,-2 1 0,-2 2 0,-3 1 0,-2-4 0,-3-11 0,-2-4 0,-5-1 0,-6 1 0,-3-1 0,-3-3 74,1 9 1,-2-3 0,0-1-1,-1 3-74,0 6 0,0 2 0,0 1 0,-1 0 0,-4-25 0,0 1 0,0 1 0,1 8 0,0 1 0,-1-2 0,3 16 0,-2-2 0,1-2 0,0-2 0,-2-13 0,0-3 0,-1-1 0,1 3 0,0 11 0,0 3 0,0 0 0,-1-2 0,-2-5 0,-1-2 0,0 1 0,1 7 389,0 5 1,0 5-1,0-2-389,-3-17 0,-1-4 0,0-3 0,3 10 0,0-3 0,0-1 0,0 4-6,-1-10 0,0 3 0,-6-4 6,1 18 0,-3-5 0,-4-2 0,0 4 0,-1 7 0,-11-14 0,-2 9 0,0 0 0,-2 0 0,0 1 0,2 5 346,-10-13 0,5 8-346,20 26 0,1 4 0,-2 4 0,-8 0 0,-19-2 0,-16-3 0,-6-4-124,11 8 1,-6-5 0,-4-1 0,1 2 0,6 3 123,2 5 0,4 3 0,-1 0 0,-4-2 0,-3-5 0,-4-3 0,-2-1 0,0 3 0,3 7 0,-2 7 0,4 6 0,-3 2 0,-5-2-624,8 4 0,-1 0 0,-5-1 0,-2 1 0,-4-2 1,-5 0 623,9 2 0,-5 0 0,-5-2 0,-3 1 0,0-1 0,-1 0 0,2 1 0,2 1 0,4 1 0,-5-1 0,3 1 0,1 1 0,2 0 0,0 1 0,-1 0 0,-2 1-67,5 1 1,-3 0 0,-2 1 0,1 0-1,1 1 1,3 1 0,4 1 0,6 3 66,-24-4 0,9 3 0,4 2 0,-5 2 0,13 4 0,-2 2 0,-1 1 0,-1 0 0,0-1 0,-2-3 0,0 0 0,-2-1 0,-2 0 0,-5-2-311,7 1 1,-6 0-1,-4-2 1,-1 0 0,2 0-1,2 0 1,5 0 310,-11-1 0,6-2 0,1 1 0,1 0 0,-1 1 0,-6-1 0,-2 0 0,1 0 0,4 1 0,6 1 101,8 2 1,5 1 0,3 0 0,1 2-102,-12 0 0,1 1 0,-6 0 0,11-1 0,-7 0 0,-2-1 0,-1 0 0,4 1 0,-9-1 0,1 0 0,1 0 0,0 0 0,-1 0 0,0 0 0,0 1 0,0 0 533,0 0 0,1 1 0,0 0 1,0 1-534,5 0 0,1 1 0,-2 0 0,-7-1-199,5 1 0,-5-1 0,-4 0 1,-3-1-1,1 1 0,1 0 199,14 0 0,0 0 0,0 0 0,0 0 0,0 0 0,2 1 0,0-1 0,-9 0 0,1-1 0,1 1 0,1 0 0,1 0 0,2 0 215,-10 0 0,2-1 1,1 1-1,3-1 1,4 1-216,2-1 0,6 1 0,0-1 0,-7 0 0,8 1 0,-4-1 0,-3 1 0,-2-1 0,0-1 0,0 0-272,0-1 1,0-1 0,-1-1 0,0 0 0,-2 0 0,-2 0 271,1 0 0,-2 0 0,-2 0 0,-1-1 0,2 1 0,1-1 0,5 1 0,-15-3 0,5-1 0,1 1 0,2 0 0,-1 0-24,2 1 0,-1 0 1,1 1-1,2 0 1,3 1 23,-7 1 0,3 0 0,1 2 0,-2-1 0,10 0 0,-1 0 0,-1 0 0,-1 0 0,-1-1 0,-6 0 0,-3 0 0,1-1 0,1 0 0,5 0 0,-1-1 0,4 0 0,1 0 0,1 1 632,0-1 1,-1 0-1,4 0 1,10 2-633,-9 0 0,7 2 0,-1 2 0,-1 0 0,-15 0 0,-2-1 0,27 0 0,-2-1 0,0 0 0,-10 0 0,-2 0 0,4-1 0,-19-2 0,5 1 751,9 2 0,8 1-751,-16 2 3489,19 0-3489,-1 2 2468,28-2-2468,-2 2 443,33 0-443,6 5 0,0 1 0,-3 6 0,1 2 0,-8 9 0,-13 19 0,-3 18 0,0 6 0,15-19 0,9-19 0,7-19 0,0-3 0,-1 12 0,1-6 0,-2 6 0,2-10 0,1-3 0,1 0 0,-2 11 0,-2 9 0,-3 18 0,4 3 0,-1-3 0,4-15 0,1-13 0,-1-12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43:13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2897 24575,'39'-16'0,"13"-1"0,16-5 0,8-2 0,-7 1 0,7-1 0,4-1 0,6-3 0,3-2-1086,-11 4 1,6-3 0,4-2 0,2-1 0,1 0-1,0-1 1,-1 2 0,-4 0 1085,4 0 0,-2 1 0,-1 0 0,-1 0 0,1 0 0,0-1 0,1-1 0,5-3 0,3-1 0,1-1 0,-1 0 0,-2 1 0,-4 0 0,-5 3 99,2-1 1,-6 2 0,-3 0 0,-2 1 0,0 0-100,9-4 0,-3-1 0,-1 1 0,-1 1 312,-4 1 0,-1-1 0,-3 2 1,-4 1-313,26-14 0,-9 2 0,-13 6 0,-6 1 0,-20 10 0,-2 2 2150,2 0 0,1-2-2150,11-9 0,1-1 1006,-9 5 0,-1 0-1006,10-9 0,1-2 0,-3 2 0,1 0 0,14-7 0,3-1 0,4-3 0,-1 0 311,-8 6 0,-2 0-311,-4 1 0,-3 1 0,-14 10 0,3-1 0,11-2 0,7-2 0,0 2-284,-5 4 1,0 1 0,4-1 283,18-8 0,6 0 0,-4 1 0,-13 7 0,-3 2 0,-2 2 0,16-6 0,-6 3 0,-22 8 0,-6 3 0,2 0 0,-32 14 0,-18 4 0,-6 1 850,-27 15-850,17-9 0,-17 10 0,27-13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43:14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1 24575,'3'3'0,"-2"29"0,-10 32 0,-1-2 0,-2 7 0,-6 17 0,-1 1 0,2-7 0,-1-2 0,2-7 0,2-7 0,3-8 0,6-28 0,5-24 0,9-2 0,15-1 0,17 0 0,32 0 0,-12 0 0,7-1 0,9-4 0,8-2 0,-5-2 0,7-1 0,1-2-236,3-2 1,2-2 0,-4 0 235,-13 0 0,-2 0 0,-3 0 0,25-5 0,-15 1 0,-24 2 0,-18 7 0,-9 7 0,3 1 0,-7 0 706,2-1-706,-17 1 0,4-1 0,-9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ED81-D536-26E7-1EBC-A3F11A1E9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4D753-E34D-2FE6-DA42-2BB90DB81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7A43B-B699-2A4F-6F4A-E2607ACA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52E33-5D1C-AF15-A455-21B55F39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9CF33-0136-0522-9FF5-CE017430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6073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1EA0F-9DD0-CB24-E363-BE776F23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8ED4-22C1-F9C4-D641-533490276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61F22-CA72-E229-D23F-02D1A104F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3A635-82EF-185B-28E5-F1114144E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3AC6E-8576-9468-D585-A98D5B8F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8121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D65D-3A3E-DC93-7BFA-1E03AD4DC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75E48-A0BD-6C7A-B05E-2573B287C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A75F5-41F6-E013-969C-F3904B0A8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7465-85BA-69D9-9F63-AC6B5978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5737C-C165-93B6-2CC1-AD76FAF7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86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90E0-DA77-F9F9-06C5-80A05B83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85E0-157B-15B0-285B-BB0BD168A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256C5-460A-EB31-2F1B-B05EA8A63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0D5E5-7338-F985-2636-960082A9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B40EE-62BE-4FE3-F8A0-2FCFD684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84C15-4141-21E8-231B-4F43AD7D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8413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0D51-9416-F683-09EE-E8278824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ED28F-3FA1-3736-CF6F-B798BD1A2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11250-B763-7347-B74D-F98BF6CDA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C8BF5-8DAD-D922-085F-FB791553D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94318-2E72-1ACC-6EAF-941EF6508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ABFB1-D277-F7A5-7A9A-BDD6E7E4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73087-646A-884F-ED95-D7ECE398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EC180-886E-5C07-DA36-5818FA39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0283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B909F-E615-D2DF-DBA4-5D68B6BDF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7524B-7B43-E7DC-49C5-D01EEEE2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FA0AB-64D1-0D4D-AF5C-8B03182D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AB015-5EB8-BC39-3130-21EC74D1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3735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74492-C9D2-B295-CA93-028BEC35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25E3C-B418-AA54-3C3D-46994DAAE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C4EDD-3F45-17E5-408A-0CC72BDF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1464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891C-CC07-A48C-2A22-86141B9B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FC95-11E0-6329-B1A1-7D8649F4E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980CD-B612-01C9-9D9B-7BAD3C1BD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99BE4-F406-3620-8396-11826AE9F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8E645-1089-9A42-C0BB-F3264D4F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A2288-8A12-CE71-8B86-67541B38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0053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1E74-AA5E-7E4B-E70B-85130716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B11DBE-27E0-E60B-1DF0-97B49B7CF4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429C2-DD3B-C01A-0B1C-BC15163F7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F8DC5-4DA3-1696-A56E-DE782B7E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7EC6C-F85D-F9BB-7D0B-D4CB7694F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A9513-A147-F409-EEA9-7D84AC95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8105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3D74-7EAE-D839-C263-50B43F3F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B8230-57E9-88ED-C439-33C9591A0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DF8CB-A487-ED2C-E6C3-F06EEF71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4BDB0-1F86-CC05-6CFA-3BFAF08A1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D5718-96F4-8D0D-DEC3-1915B7D4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27196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D7A085-91A9-91E9-FA37-23D2ECF08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658EB-DCC7-8061-BDD5-DE6383156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30FBF-888C-D481-E754-3FEFF419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160AF-6B03-DE3D-B9B0-E3C41FE8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121FB-7310-809E-307D-6641F0EE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7033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9B2C6-EF03-1C16-398C-07E5076F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941ED-5528-B015-87FD-38B37A2E0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54854-B315-FD21-66A3-F8D94D249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60679-1857-C444-8351-96DFF769671E}" type="datetimeFigureOut">
              <a:rPr lang="en-KR" smtClean="0"/>
              <a:t>05/05/2026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EC6F-E044-A348-1217-0D9AA9544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BE03D-1879-D986-68AA-54EA64E9B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627A3-229A-ED48-839C-802A107BF01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006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410.02615" TargetMode="External"/><Relationship Id="rId2" Type="http://schemas.openxmlformats.org/officeDocument/2006/relationships/hyperlink" Target="https://doi.org/10.48550/arXiv.2306.1192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7DF1-4FB3-771D-9E52-1D1E651A8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MedVita </a:t>
            </a:r>
            <a:br>
              <a:rPr lang="en-KR" dirty="0"/>
            </a:br>
            <a:r>
              <a:rPr lang="en-KR" sz="3200" dirty="0"/>
              <a:t>Trợ lý AI cho bác sĩ khám bệnh, lập và quản lý hồ sơ bệnh án điện tử</a:t>
            </a:r>
          </a:p>
        </p:txBody>
      </p:sp>
    </p:spTree>
    <p:extLst>
      <p:ext uri="{BB962C8B-B14F-4D97-AF65-F5344CB8AC3E}">
        <p14:creationId xmlns:p14="http://schemas.microsoft.com/office/powerpoint/2010/main" val="2551144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DC8B-79B5-8D7C-F1BD-2D782026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Vấn đề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64C24-2B08-70EC-DC0E-A2B3E5378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573" y="1690688"/>
            <a:ext cx="11699914" cy="2239599"/>
          </a:xfrm>
        </p:spPr>
        <p:txBody>
          <a:bodyPr/>
          <a:lstStyle/>
          <a:p>
            <a:r>
              <a:rPr lang="en-KR" sz="2000" dirty="0"/>
              <a:t>Gánh nặng hành chính trong y tế [1]</a:t>
            </a:r>
          </a:p>
          <a:p>
            <a:pPr marL="679450" lvl="1" indent="-285750">
              <a:buFont typeface="Courier New" panose="02070309020205020404" pitchFamily="49" charset="0"/>
              <a:buChar char="o"/>
            </a:pPr>
            <a:r>
              <a:rPr lang="en-US" sz="1800" dirty="0"/>
              <a:t>~49%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 </a:t>
            </a:r>
            <a:r>
              <a:rPr lang="en-US" sz="1800" dirty="0" err="1"/>
              <a:t>làm</a:t>
            </a:r>
            <a:r>
              <a:rPr lang="en-US" sz="1800" dirty="0"/>
              <a:t>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Bác</a:t>
            </a:r>
            <a:r>
              <a:rPr lang="en-US" sz="1800" dirty="0"/>
              <a:t> </a:t>
            </a:r>
            <a:r>
              <a:rPr lang="en-US" sz="1800" dirty="0" err="1"/>
              <a:t>sĩ</a:t>
            </a:r>
            <a:r>
              <a:rPr lang="en-US" sz="1800" dirty="0"/>
              <a:t> 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dành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KR" sz="1800" dirty="0"/>
              <a:t>hồ sơ bệnh án điện tử (</a:t>
            </a:r>
            <a:r>
              <a:rPr lang="en-US" sz="1800" dirty="0"/>
              <a:t>EHR)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</a:p>
          <a:p>
            <a:pPr marL="679450" lvl="1" indent="-285750">
              <a:buFont typeface="Courier New" panose="02070309020205020404" pitchFamily="49" charset="0"/>
              <a:buChar char="o"/>
            </a:pPr>
            <a:r>
              <a:rPr lang="en-US" sz="1800" dirty="0"/>
              <a:t>~1/3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 </a:t>
            </a:r>
            <a:r>
              <a:rPr lang="en-US" sz="1800" dirty="0" err="1"/>
              <a:t>mỗi</a:t>
            </a:r>
            <a:r>
              <a:rPr lang="en-US" sz="1800" dirty="0"/>
              <a:t> </a:t>
            </a:r>
            <a:r>
              <a:rPr lang="en-US" sz="1800" dirty="0" err="1"/>
              <a:t>lần</a:t>
            </a:r>
            <a:r>
              <a:rPr lang="en-US" sz="1800" dirty="0"/>
              <a:t> </a:t>
            </a:r>
            <a:r>
              <a:rPr lang="en-US" sz="1800" dirty="0" err="1"/>
              <a:t>khám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 </a:t>
            </a:r>
            <a:r>
              <a:rPr lang="en-US" sz="1800" dirty="0" err="1"/>
              <a:t>nhân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dành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vi-VN" sz="1800" dirty="0"/>
              <a:t>lập hồ sơ bệnh án </a:t>
            </a:r>
            <a:endParaRPr lang="en-US" sz="1800" dirty="0"/>
          </a:p>
          <a:p>
            <a:pPr marL="679450" lvl="1" indent="-285750">
              <a:buFont typeface="Courier New" panose="02070309020205020404" pitchFamily="49" charset="0"/>
              <a:buChar char="o"/>
            </a:pPr>
            <a:r>
              <a:rPr lang="en-US" sz="1800" dirty="0" err="1"/>
              <a:t>Mất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 </a:t>
            </a:r>
            <a:r>
              <a:rPr lang="en-US" sz="1800" dirty="0" err="1"/>
              <a:t>chuyên</a:t>
            </a:r>
            <a:r>
              <a:rPr lang="en-US" sz="1800" dirty="0"/>
              <a:t> </a:t>
            </a:r>
            <a:r>
              <a:rPr lang="en-US" sz="1800" dirty="0" err="1"/>
              <a:t>môn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bác</a:t>
            </a:r>
            <a:r>
              <a:rPr lang="en-US" sz="1800" dirty="0"/>
              <a:t> </a:t>
            </a:r>
            <a:r>
              <a:rPr lang="en-US" sz="1800" dirty="0" err="1"/>
              <a:t>sĩ</a:t>
            </a:r>
            <a:r>
              <a:rPr lang="en-US" sz="1800" dirty="0"/>
              <a:t> </a:t>
            </a:r>
            <a:r>
              <a:rPr lang="en-US" sz="1800" dirty="0" err="1"/>
              <a:t>gây</a:t>
            </a:r>
            <a:r>
              <a:rPr lang="en-US" sz="1800" dirty="0"/>
              <a:t> </a:t>
            </a:r>
            <a:r>
              <a:rPr lang="en-US" sz="1800" dirty="0" err="1"/>
              <a:t>lãng</a:t>
            </a:r>
            <a:r>
              <a:rPr lang="en-US" sz="1800" dirty="0"/>
              <a:t> </a:t>
            </a:r>
            <a:r>
              <a:rPr lang="en-US" sz="1800" dirty="0" err="1"/>
              <a:t>phí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trị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giảm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suất</a:t>
            </a:r>
            <a:r>
              <a:rPr lang="en-US" sz="1800" dirty="0"/>
              <a:t> </a:t>
            </a:r>
            <a:r>
              <a:rPr lang="en-US" sz="1800" dirty="0" err="1"/>
              <a:t>khám</a:t>
            </a:r>
            <a:r>
              <a:rPr lang="en-US" sz="1800" dirty="0"/>
              <a:t>  </a:t>
            </a:r>
          </a:p>
          <a:p>
            <a:pPr marL="679450" lvl="1" indent="-285750">
              <a:buFont typeface="Courier New" panose="02070309020205020404" pitchFamily="49" charset="0"/>
              <a:buChar char="o"/>
            </a:pPr>
            <a:r>
              <a:rPr lang="en-US" sz="1800" dirty="0" err="1"/>
              <a:t>Mất</a:t>
            </a:r>
            <a:r>
              <a:rPr lang="en-US" sz="1800" dirty="0"/>
              <a:t> </a:t>
            </a:r>
            <a:r>
              <a:rPr lang="en-US" sz="1800" dirty="0" err="1"/>
              <a:t>tốc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quyết</a:t>
            </a:r>
            <a:r>
              <a:rPr lang="en-US" sz="1800" dirty="0"/>
              <a:t> </a:t>
            </a:r>
            <a:r>
              <a:rPr lang="en-US" sz="1800" dirty="0" err="1"/>
              <a:t>định</a:t>
            </a:r>
            <a:r>
              <a:rPr lang="en-US" sz="1800" dirty="0"/>
              <a:t>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trị</a:t>
            </a:r>
            <a:r>
              <a:rPr lang="en-US" sz="1800" dirty="0"/>
              <a:t> v</a:t>
            </a:r>
            <a:r>
              <a:rPr lang="vi-VN" sz="1800" dirty="0"/>
              <a:t>à tăng nguy cơ bỏ sót thông tin quan trọng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9AC66-4987-D017-F4D7-66579FCAE82D}"/>
              </a:ext>
            </a:extLst>
          </p:cNvPr>
          <p:cNvSpPr txBox="1"/>
          <p:nvPr/>
        </p:nvSpPr>
        <p:spPr>
          <a:xfrm>
            <a:off x="638979" y="5282054"/>
            <a:ext cx="100804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555555"/>
                </a:solidFill>
                <a:effectLst/>
              </a:rPr>
              <a:t>[1] Christine Sinsky, Lacey Colligan, Ling Li, et al. Allocation of Physician Time in Ambulatory Practice: A Time and Motion Study in 4 Specialties. Ann Intern Med.2016;165:753-760. [</a:t>
            </a:r>
            <a:r>
              <a:rPr lang="en-US" sz="1000" b="0" i="0" dirty="0" err="1">
                <a:solidFill>
                  <a:srgbClr val="555555"/>
                </a:solidFill>
                <a:effectLst/>
              </a:rPr>
              <a:t>Epub</a:t>
            </a:r>
            <a:r>
              <a:rPr lang="en-US" sz="1000" b="0" i="0" dirty="0">
                <a:solidFill>
                  <a:srgbClr val="555555"/>
                </a:solidFill>
                <a:effectLst/>
              </a:rPr>
              <a:t> 6 September 2016]. doi:10.7326/M16-0961</a:t>
            </a:r>
            <a:endParaRPr lang="en-KR" sz="1000" dirty="0"/>
          </a:p>
        </p:txBody>
      </p:sp>
    </p:spTree>
    <p:extLst>
      <p:ext uri="{BB962C8B-B14F-4D97-AF65-F5344CB8AC3E}">
        <p14:creationId xmlns:p14="http://schemas.microsoft.com/office/powerpoint/2010/main" val="287587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3A50-655E-0D8E-9FE0-A557CE80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F814-D00B-FDEA-0D12-CF5B1511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Giải Pháp  MedVita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BA401F-F768-7337-578C-A496DB56BB7D}"/>
              </a:ext>
            </a:extLst>
          </p:cNvPr>
          <p:cNvSpPr txBox="1">
            <a:spLocks/>
          </p:cNvSpPr>
          <p:nvPr/>
        </p:nvSpPr>
        <p:spPr>
          <a:xfrm>
            <a:off x="659175" y="1397305"/>
            <a:ext cx="10302607" cy="1863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b="1" dirty="0"/>
              <a:t>Medvita là 1 giải pháp AI hỗ trợ bác sĩ từ khâu:</a:t>
            </a:r>
          </a:p>
          <a:p>
            <a:r>
              <a:rPr lang="vi-VN" sz="1600" dirty="0"/>
              <a:t>thu thập thông tin bệnh nhân</a:t>
            </a:r>
          </a:p>
          <a:p>
            <a:r>
              <a:rPr lang="vi-VN" sz="1600" dirty="0"/>
              <a:t>lắng nghe bác sĩ khám bệnh rồi </a:t>
            </a:r>
            <a:r>
              <a:rPr lang="en-KR" sz="1600" dirty="0"/>
              <a:t>động hóa ghi chép lâm sàng, tóm tắt hồ sơ bệnh án, chuẩn hóa dữ liệu và cung cấp hỗ trợ quyết định lâm sàng theo thời gian thực</a:t>
            </a:r>
            <a:r>
              <a:rPr lang="en-KR" sz="1600" dirty="0">
                <a:effectLst/>
              </a:rPr>
              <a:t> </a:t>
            </a:r>
          </a:p>
          <a:p>
            <a:r>
              <a:rPr lang="en-US" sz="1600" dirty="0" err="1">
                <a:effectLst/>
              </a:rPr>
              <a:t>Hỗ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trợ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bác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sĩ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lập</a:t>
            </a:r>
            <a:r>
              <a:rPr lang="en-US" sz="1600" dirty="0">
                <a:effectLst/>
              </a:rPr>
              <a:t> </a:t>
            </a:r>
            <a:r>
              <a:rPr lang="en-KR" sz="1600" dirty="0"/>
              <a:t>lập và quản lý hồ sơ bệnh án điện tử</a:t>
            </a:r>
            <a:endParaRPr lang="en-K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2443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4644-7E10-9FD4-C59A-9EE75BF2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6228-CB71-14F2-6C33-03B901A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Giải Pháp MedVita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208F-905B-C7A5-5887-95FE6BB55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276" y="1690687"/>
            <a:ext cx="3207746" cy="401604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1800" b="1" dirty="0"/>
              <a:t>Bước 1 (Tùy chọn)</a:t>
            </a:r>
          </a:p>
          <a:p>
            <a:pPr marL="0" indent="0">
              <a:buNone/>
            </a:pPr>
            <a:r>
              <a:rPr lang="vi-VN" sz="1800" b="1" dirty="0"/>
              <a:t>Trước khi bệnh nhân gặp Bác sĩ </a:t>
            </a:r>
          </a:p>
          <a:p>
            <a:r>
              <a:rPr lang="vi-VN" sz="1800" dirty="0"/>
              <a:t>Medvita đọc thông tin bệnh nhân trong HIS (nếu có)</a:t>
            </a:r>
          </a:p>
          <a:p>
            <a:r>
              <a:rPr lang="vi-VN" sz="1800" dirty="0"/>
              <a:t>Medvita khai thác triệu chứng và tiền sử bệnh của Bệnh nhân (chatbot)</a:t>
            </a:r>
          </a:p>
          <a:p>
            <a:r>
              <a:rPr lang="vi-VN" sz="1800" dirty="0"/>
              <a:t>Medvita tóm tắt bệnh sử gửi bác sĩ trước khi tiếp nhận</a:t>
            </a:r>
          </a:p>
          <a:p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EEB4CB-2A60-091F-4FD1-0E7AFFD09711}"/>
              </a:ext>
            </a:extLst>
          </p:cNvPr>
          <p:cNvSpPr txBox="1">
            <a:spLocks/>
          </p:cNvSpPr>
          <p:nvPr/>
        </p:nvSpPr>
        <p:spPr>
          <a:xfrm>
            <a:off x="4698115" y="1690686"/>
            <a:ext cx="3207746" cy="401604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1800" b="1" dirty="0"/>
              <a:t>Bước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vi-VN" sz="1800" b="1" dirty="0"/>
              <a:t>Trong quá trình khám</a:t>
            </a:r>
          </a:p>
          <a:p>
            <a:r>
              <a:rPr lang="vi-VN" sz="1800" dirty="0"/>
              <a:t>Medvita hiện thị bản tóm tắt ở bước 1 ( nếu có)</a:t>
            </a:r>
          </a:p>
          <a:p>
            <a:r>
              <a:rPr lang="vi-VN" sz="1800" dirty="0"/>
              <a:t>Medvita lắng nghe bác sĩ khám và hiện thị thông tin tóm tắt lên màn hình (giúp bác sĩ tránh sót thông tin)</a:t>
            </a:r>
          </a:p>
          <a:p>
            <a:r>
              <a:rPr lang="en-US" sz="1800" dirty="0" err="1"/>
              <a:t>Medvita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1 </a:t>
            </a:r>
            <a:r>
              <a:rPr lang="en-US" sz="1800" dirty="0" err="1"/>
              <a:t>số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tin </a:t>
            </a:r>
            <a:r>
              <a:rPr lang="en-US" sz="1800" dirty="0" err="1"/>
              <a:t>vào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 </a:t>
            </a:r>
            <a:r>
              <a:rPr lang="en-US" sz="1800" dirty="0" err="1"/>
              <a:t>án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MedVita</a:t>
            </a:r>
            <a:r>
              <a:rPr lang="en-US" sz="1800" dirty="0"/>
              <a:t> </a:t>
            </a:r>
            <a:r>
              <a:rPr lang="en-US" sz="1800" dirty="0" err="1"/>
              <a:t>gợi</a:t>
            </a:r>
            <a:r>
              <a:rPr lang="en-US" sz="1800" dirty="0"/>
              <a:t> </a:t>
            </a:r>
            <a:r>
              <a:rPr lang="en-US" sz="1800" dirty="0" err="1"/>
              <a:t>ý</a:t>
            </a:r>
            <a:r>
              <a:rPr lang="en-US" sz="1800" dirty="0"/>
              <a:t> </a:t>
            </a:r>
            <a:r>
              <a:rPr lang="en-US" sz="1800" dirty="0" err="1"/>
              <a:t>nhóm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, </a:t>
            </a:r>
            <a:r>
              <a:rPr lang="en-US" sz="1800" dirty="0" err="1"/>
              <a:t>gợi</a:t>
            </a:r>
            <a:r>
              <a:rPr lang="en-US" sz="1800" dirty="0"/>
              <a:t> </a:t>
            </a:r>
            <a:r>
              <a:rPr lang="en-US" sz="1800" dirty="0" err="1"/>
              <a:t>ý</a:t>
            </a:r>
            <a:r>
              <a:rPr lang="en-US" sz="1800" dirty="0"/>
              <a:t> </a:t>
            </a:r>
            <a:r>
              <a:rPr lang="en-US" sz="1800" dirty="0" err="1"/>
              <a:t>khám</a:t>
            </a:r>
            <a:r>
              <a:rPr lang="en-US" sz="1800" dirty="0"/>
              <a:t> </a:t>
            </a:r>
            <a:r>
              <a:rPr lang="en-US" sz="1800" dirty="0" err="1"/>
              <a:t>gì</a:t>
            </a:r>
            <a:r>
              <a:rPr lang="en-US" sz="1800" dirty="0"/>
              <a:t> </a:t>
            </a:r>
            <a:r>
              <a:rPr lang="en-US" sz="1800" dirty="0" err="1"/>
              <a:t>tiếp</a:t>
            </a:r>
            <a:r>
              <a:rPr lang="en-US" sz="1800" dirty="0"/>
              <a:t> </a:t>
            </a:r>
            <a:r>
              <a:rPr lang="en-US" sz="1800" dirty="0" err="1"/>
              <a:t>theo</a:t>
            </a:r>
            <a:r>
              <a:rPr lang="en-US" sz="1800" dirty="0"/>
              <a:t>, </a:t>
            </a:r>
            <a:r>
              <a:rPr lang="en-US" sz="1800" dirty="0" err="1"/>
              <a:t>gợi</a:t>
            </a:r>
            <a:r>
              <a:rPr lang="en-US" sz="1800" dirty="0"/>
              <a:t> </a:t>
            </a:r>
            <a:r>
              <a:rPr lang="en-US" sz="1800" dirty="0" err="1"/>
              <a:t>ý</a:t>
            </a:r>
            <a:r>
              <a:rPr lang="en-US" sz="1800" dirty="0"/>
              <a:t> </a:t>
            </a:r>
            <a:r>
              <a:rPr lang="en-US" sz="1800" dirty="0" err="1"/>
              <a:t>làm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xét</a:t>
            </a:r>
            <a:r>
              <a:rPr lang="en-US" sz="1800" dirty="0"/>
              <a:t> </a:t>
            </a:r>
            <a:r>
              <a:rPr lang="en-US" sz="1800" dirty="0" err="1"/>
              <a:t>nghiệm</a:t>
            </a:r>
            <a:r>
              <a:rPr lang="en-US" sz="1800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C63A35-5ABF-5484-8E26-D38F0770B75A}"/>
              </a:ext>
            </a:extLst>
          </p:cNvPr>
          <p:cNvSpPr txBox="1">
            <a:spLocks/>
          </p:cNvSpPr>
          <p:nvPr/>
        </p:nvSpPr>
        <p:spPr>
          <a:xfrm>
            <a:off x="8453949" y="1690686"/>
            <a:ext cx="3207746" cy="401604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1800" b="1" dirty="0"/>
              <a:t>Bước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vi-VN" sz="1800" b="1" dirty="0"/>
              <a:t>Lập hồ sơ bệnh án</a:t>
            </a:r>
          </a:p>
          <a:p>
            <a:r>
              <a:rPr lang="vi-VN" sz="1800" dirty="0"/>
              <a:t>Medvita hiện thị bản tóm tắt bệnh sử</a:t>
            </a:r>
          </a:p>
          <a:p>
            <a:r>
              <a:rPr lang="en-US" sz="1800" dirty="0" err="1"/>
              <a:t>Medvita</a:t>
            </a:r>
            <a:r>
              <a:rPr lang="en-US" sz="1800" dirty="0"/>
              <a:t> </a:t>
            </a:r>
            <a:r>
              <a:rPr lang="en-US" sz="1800" dirty="0" err="1"/>
              <a:t>hiển</a:t>
            </a:r>
            <a:r>
              <a:rPr lang="en-US" sz="1800" dirty="0"/>
              <a:t> </a:t>
            </a:r>
            <a:r>
              <a:rPr lang="en-US" sz="1800" dirty="0" err="1"/>
              <a:t>thị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 </a:t>
            </a:r>
            <a:r>
              <a:rPr lang="en-US" sz="1800" dirty="0" err="1"/>
              <a:t>án</a:t>
            </a:r>
            <a:r>
              <a:rPr lang="en-US" sz="1800" dirty="0"/>
              <a:t> </a:t>
            </a:r>
            <a:r>
              <a:rPr lang="en-US" sz="1800" dirty="0" err="1"/>
              <a:t>đã</a:t>
            </a:r>
            <a:r>
              <a:rPr lang="en-US" sz="1800" dirty="0"/>
              <a:t>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1 </a:t>
            </a:r>
            <a:r>
              <a:rPr lang="en-US" sz="1800" dirty="0" err="1"/>
              <a:t>số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tin </a:t>
            </a:r>
            <a:r>
              <a:rPr lang="en-US" sz="1800" dirty="0" err="1"/>
              <a:t>ở</a:t>
            </a:r>
            <a:r>
              <a:rPr lang="en-US" sz="1800" dirty="0"/>
              <a:t> </a:t>
            </a:r>
            <a:r>
              <a:rPr lang="en-US" sz="1800" dirty="0" err="1"/>
              <a:t>bước</a:t>
            </a:r>
            <a:r>
              <a:rPr lang="en-US" sz="1800" dirty="0"/>
              <a:t> 2.</a:t>
            </a:r>
          </a:p>
          <a:p>
            <a:r>
              <a:rPr lang="en-US" sz="1800" dirty="0" err="1"/>
              <a:t>Medvita</a:t>
            </a:r>
            <a:r>
              <a:rPr lang="en-US" sz="1800" dirty="0"/>
              <a:t> </a:t>
            </a:r>
            <a:r>
              <a:rPr lang="en-US" sz="1800" dirty="0" err="1"/>
              <a:t>gợi</a:t>
            </a:r>
            <a:r>
              <a:rPr lang="en-US" sz="1800" dirty="0"/>
              <a:t> </a:t>
            </a:r>
            <a:r>
              <a:rPr lang="en-US" sz="1800" dirty="0" err="1"/>
              <a:t>ý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tin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 </a:t>
            </a:r>
            <a:r>
              <a:rPr lang="en-US" sz="1800" dirty="0" err="1"/>
              <a:t>án</a:t>
            </a:r>
            <a:r>
              <a:rPr lang="en-US" sz="1800" dirty="0"/>
              <a:t> </a:t>
            </a:r>
            <a:r>
              <a:rPr lang="en-US" sz="1800" dirty="0" err="1"/>
              <a:t>còn</a:t>
            </a:r>
            <a:r>
              <a:rPr lang="en-US" sz="1800" dirty="0"/>
              <a:t> </a:t>
            </a:r>
            <a:r>
              <a:rPr lang="en-US" sz="1800" dirty="0" err="1"/>
              <a:t>thiếu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bác</a:t>
            </a:r>
            <a:r>
              <a:rPr lang="en-US" sz="1800" dirty="0"/>
              <a:t> </a:t>
            </a:r>
            <a:r>
              <a:rPr lang="en-US" sz="1800" dirty="0" err="1"/>
              <a:t>sĩ</a:t>
            </a:r>
            <a:r>
              <a:rPr lang="en-US" sz="1800" dirty="0"/>
              <a:t> </a:t>
            </a:r>
            <a:r>
              <a:rPr lang="en-US" sz="1800" dirty="0" err="1"/>
              <a:t>chỉnh</a:t>
            </a:r>
            <a:r>
              <a:rPr lang="en-US" sz="1800" dirty="0"/>
              <a:t> </a:t>
            </a:r>
            <a:r>
              <a:rPr lang="en-US" sz="1800" dirty="0" err="1"/>
              <a:t>sửa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Medvita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tiếp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bác</a:t>
            </a:r>
            <a:r>
              <a:rPr lang="en-US" sz="1800" dirty="0"/>
              <a:t> </a:t>
            </a:r>
            <a:r>
              <a:rPr lang="en-US" sz="1800" dirty="0" err="1"/>
              <a:t>sĩ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điền</a:t>
            </a:r>
            <a:r>
              <a:rPr lang="en-US" sz="1800" dirty="0"/>
              <a:t> </a:t>
            </a:r>
            <a:r>
              <a:rPr lang="en-US" sz="1800" dirty="0" err="1"/>
              <a:t>tiếp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tin </a:t>
            </a:r>
            <a:r>
              <a:rPr lang="en-US" sz="1800" dirty="0" err="1"/>
              <a:t>còn</a:t>
            </a:r>
            <a:r>
              <a:rPr lang="en-US" sz="1800" dirty="0"/>
              <a:t> </a:t>
            </a:r>
            <a:r>
              <a:rPr lang="en-US" sz="1800" dirty="0" err="1"/>
              <a:t>thiếu</a:t>
            </a:r>
            <a:r>
              <a:rPr lang="en-US" sz="1800" dirty="0"/>
              <a:t> </a:t>
            </a:r>
            <a:r>
              <a:rPr lang="en-US" sz="1800" dirty="0" err="1"/>
              <a:t>vào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 </a:t>
            </a:r>
            <a:r>
              <a:rPr lang="en-US" sz="1800" dirty="0" err="1"/>
              <a:t>án</a:t>
            </a:r>
            <a:endParaRPr lang="en-US" sz="1800" dirty="0"/>
          </a:p>
          <a:p>
            <a:r>
              <a:rPr lang="en-US" sz="1800" dirty="0" err="1"/>
              <a:t>nhắc</a:t>
            </a:r>
            <a:r>
              <a:rPr lang="en-US" sz="1800" dirty="0"/>
              <a:t> </a:t>
            </a:r>
            <a:r>
              <a:rPr lang="en-US" sz="1800" dirty="0" err="1"/>
              <a:t>bác</a:t>
            </a:r>
            <a:r>
              <a:rPr lang="en-US" sz="1800" dirty="0"/>
              <a:t> </a:t>
            </a:r>
            <a:r>
              <a:rPr lang="en-US" sz="1800" dirty="0" err="1"/>
              <a:t>sĩ</a:t>
            </a:r>
            <a:r>
              <a:rPr lang="en-US" sz="1800" dirty="0"/>
              <a:t> </a:t>
            </a:r>
            <a:r>
              <a:rPr lang="en-US" sz="1800" dirty="0" err="1"/>
              <a:t>nếu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 </a:t>
            </a:r>
            <a:r>
              <a:rPr lang="en-US" sz="1800" dirty="0" err="1"/>
              <a:t>án</a:t>
            </a:r>
            <a:r>
              <a:rPr lang="en-US" sz="1800" dirty="0"/>
              <a:t> </a:t>
            </a:r>
            <a:r>
              <a:rPr lang="en-US" sz="1800" dirty="0" err="1"/>
              <a:t>chưa</a:t>
            </a:r>
            <a:r>
              <a:rPr lang="en-US" sz="1800" dirty="0"/>
              <a:t> </a:t>
            </a:r>
            <a:r>
              <a:rPr lang="en-US" sz="1800" dirty="0" err="1"/>
              <a:t>điền</a:t>
            </a:r>
            <a:r>
              <a:rPr lang="en-US" sz="1800" dirty="0"/>
              <a:t> </a:t>
            </a:r>
            <a:r>
              <a:rPr lang="en-US" sz="1800" dirty="0" err="1"/>
              <a:t>đủ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tin</a:t>
            </a:r>
          </a:p>
        </p:txBody>
      </p:sp>
    </p:spTree>
    <p:extLst>
      <p:ext uri="{BB962C8B-B14F-4D97-AF65-F5344CB8AC3E}">
        <p14:creationId xmlns:p14="http://schemas.microsoft.com/office/powerpoint/2010/main" val="165290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D4827-E2CD-1EEA-6938-D452802B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5BED-446B-6881-4217-CBB3E7069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Giao diện MedVita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DC3D0-8F1B-0921-C6A7-B5BC92E1F64E}"/>
              </a:ext>
            </a:extLst>
          </p:cNvPr>
          <p:cNvSpPr txBox="1"/>
          <p:nvPr/>
        </p:nvSpPr>
        <p:spPr>
          <a:xfrm>
            <a:off x="2685362" y="2782669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1800" dirty="0"/>
              <a:t>Vẽ giao diện của bước 1 là 1 của sổ chatbot medvita với bệnh nhân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108B4-5B67-A58B-8D9D-DAF5292D2315}"/>
              </a:ext>
            </a:extLst>
          </p:cNvPr>
          <p:cNvSpPr txBox="1"/>
          <p:nvPr/>
        </p:nvSpPr>
        <p:spPr>
          <a:xfrm>
            <a:off x="1317433" y="168268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1800" dirty="0"/>
              <a:t>Bước 1 -  Thu thập thông tin bệnh nhân</a:t>
            </a:r>
          </a:p>
        </p:txBody>
      </p:sp>
    </p:spTree>
    <p:extLst>
      <p:ext uri="{BB962C8B-B14F-4D97-AF65-F5344CB8AC3E}">
        <p14:creationId xmlns:p14="http://schemas.microsoft.com/office/powerpoint/2010/main" val="101867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6804F-9FF7-ACF1-74FC-FDEDB9E3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D9F4-8073-FB66-62C5-951F246B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Giao diện MedVita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7C6C5-F025-4011-ED3E-153D5A6F7D44}"/>
              </a:ext>
            </a:extLst>
          </p:cNvPr>
          <p:cNvSpPr txBox="1"/>
          <p:nvPr/>
        </p:nvSpPr>
        <p:spPr>
          <a:xfrm>
            <a:off x="1030995" y="148176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1800" dirty="0"/>
              <a:t>Bước 2 – hỗ trợ bác sĩ khám bệnh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83F35-1CAB-4CEE-7EED-A8F39759C00A}"/>
              </a:ext>
            </a:extLst>
          </p:cNvPr>
          <p:cNvSpPr/>
          <p:nvPr/>
        </p:nvSpPr>
        <p:spPr>
          <a:xfrm>
            <a:off x="1152179" y="2423711"/>
            <a:ext cx="4196435" cy="11898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KR" dirty="0"/>
              <a:t>hiẻn thị tóm tắt thông tin triệu chứng, bệnh sử đã thu thập ở bước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CFA33-2E72-9B2E-955C-4289F935EE2F}"/>
              </a:ext>
            </a:extLst>
          </p:cNvPr>
          <p:cNvSpPr txBox="1"/>
          <p:nvPr/>
        </p:nvSpPr>
        <p:spPr>
          <a:xfrm>
            <a:off x="1317433" y="1940921"/>
            <a:ext cx="457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1800" dirty="0"/>
              <a:t>Màn hình của máy tính của Bác sĩ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03F10C-847A-BD2E-A496-9541CBAB307A}"/>
              </a:ext>
            </a:extLst>
          </p:cNvPr>
          <p:cNvSpPr/>
          <p:nvPr/>
        </p:nvSpPr>
        <p:spPr>
          <a:xfrm>
            <a:off x="1152179" y="3591233"/>
            <a:ext cx="4196435" cy="16195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KR" dirty="0"/>
              <a:t>Tóm tắt thông tin bác sĩ đang khám bệnh ( update realtime)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55CADA-985E-F661-B780-370929F4CCAA}"/>
              </a:ext>
            </a:extLst>
          </p:cNvPr>
          <p:cNvSpPr/>
          <p:nvPr/>
        </p:nvSpPr>
        <p:spPr>
          <a:xfrm>
            <a:off x="1152179" y="5210827"/>
            <a:ext cx="4196435" cy="8893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KR" dirty="0"/>
              <a:t>Gợi ý khám, xét nghiệm, nhóm bệnh..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61D73-CE10-F0CE-DC34-9EB11A20FCC0}"/>
              </a:ext>
            </a:extLst>
          </p:cNvPr>
          <p:cNvSpPr/>
          <p:nvPr/>
        </p:nvSpPr>
        <p:spPr>
          <a:xfrm>
            <a:off x="5348614" y="2423712"/>
            <a:ext cx="2805830" cy="36764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KR" dirty="0"/>
              <a:t>Hiện form Bệnh án và điền các thông tin xác định được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DCA713-5390-7F83-C60D-17575C176E1A}"/>
              </a:ext>
            </a:extLst>
          </p:cNvPr>
          <p:cNvGrpSpPr/>
          <p:nvPr/>
        </p:nvGrpSpPr>
        <p:grpSpPr>
          <a:xfrm>
            <a:off x="743015" y="1425644"/>
            <a:ext cx="7422840" cy="5176440"/>
            <a:chOff x="743015" y="1425644"/>
            <a:chExt cx="7422840" cy="517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48114E7-6797-296D-23C9-A7B5CCD107DF}"/>
                    </a:ext>
                  </a:extLst>
                </p14:cNvPr>
                <p14:cNvContentPartPr/>
                <p14:nvPr/>
              </p14:nvContentPartPr>
              <p14:xfrm>
                <a:off x="743015" y="2207564"/>
                <a:ext cx="7422840" cy="4394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48114E7-6797-296D-23C9-A7B5CCD107D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6895" y="2201444"/>
                  <a:ext cx="7435080" cy="44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9DAE68-751B-9ECE-907B-910767815605}"/>
                    </a:ext>
                  </a:extLst>
                </p14:cNvPr>
                <p14:cNvContentPartPr/>
                <p14:nvPr/>
              </p14:nvContentPartPr>
              <p14:xfrm>
                <a:off x="3891935" y="1425644"/>
                <a:ext cx="2319840" cy="1042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9DAE68-751B-9ECE-907B-9107678156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85815" y="1419524"/>
                  <a:ext cx="2332080" cy="10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6C2F3FB-C362-2B3C-37BC-A4FA38E2C053}"/>
                    </a:ext>
                  </a:extLst>
                </p14:cNvPr>
                <p14:cNvContentPartPr/>
                <p14:nvPr/>
              </p14:nvContentPartPr>
              <p14:xfrm>
                <a:off x="3833615" y="2348684"/>
                <a:ext cx="579600" cy="284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6C2F3FB-C362-2B3C-37BC-A4FA38E2C0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27495" y="2342564"/>
                  <a:ext cx="591840" cy="297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D011EE5-CB59-16D3-7432-9EEDE6DC6DBA}"/>
              </a:ext>
            </a:extLst>
          </p:cNvPr>
          <p:cNvSpPr txBox="1"/>
          <p:nvPr/>
        </p:nvSpPr>
        <p:spPr>
          <a:xfrm>
            <a:off x="6096001" y="1269040"/>
            <a:ext cx="5908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>
                <a:solidFill>
                  <a:srgbClr val="FF0000"/>
                </a:solidFill>
              </a:rPr>
              <a:t>*Đây là chú thích cho Tùng để Tùng thiết kế: Đây là màn hình máy tính của bác sĩ chia làm 4 vùng. Hỏi Huy &amp; Toàn để hiện thị thông tin giả lập trong 4 vùng này. chỗ form bệnh án, lấy từ Huy cái bệnh án Huy đang làm demo</a:t>
            </a:r>
          </a:p>
        </p:txBody>
      </p:sp>
    </p:spTree>
    <p:extLst>
      <p:ext uri="{BB962C8B-B14F-4D97-AF65-F5344CB8AC3E}">
        <p14:creationId xmlns:p14="http://schemas.microsoft.com/office/powerpoint/2010/main" val="425137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6205-BBC7-E3CC-BB9E-F718E5AE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70F0-4C3F-2099-3D5C-B75F0A0F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Giao diện MedVita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DEB178-D78B-AF32-83CD-981BF7EDBF9C}"/>
              </a:ext>
            </a:extLst>
          </p:cNvPr>
          <p:cNvSpPr txBox="1"/>
          <p:nvPr/>
        </p:nvSpPr>
        <p:spPr>
          <a:xfrm>
            <a:off x="1030995" y="148176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1800" dirty="0"/>
              <a:t>Bước 3 – hỗ trợ bác sĩ lập hồ sơ bệnh án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96CA0A-835B-509D-841C-0D0D1E74B45B}"/>
              </a:ext>
            </a:extLst>
          </p:cNvPr>
          <p:cNvSpPr/>
          <p:nvPr/>
        </p:nvSpPr>
        <p:spPr>
          <a:xfrm>
            <a:off x="1152179" y="2423710"/>
            <a:ext cx="4196435" cy="1437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KR" dirty="0"/>
              <a:t>hiẻn thị tóm tắt thông tin triệu chứng, bệnh sử đã thu thập ở bước 1 và bước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389F9-945A-64A6-E221-DE1A41F1D061}"/>
              </a:ext>
            </a:extLst>
          </p:cNvPr>
          <p:cNvSpPr txBox="1"/>
          <p:nvPr/>
        </p:nvSpPr>
        <p:spPr>
          <a:xfrm>
            <a:off x="1317433" y="1940921"/>
            <a:ext cx="4575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1800" dirty="0"/>
              <a:t>Màn hình của máy tính của Bác sĩ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69A79-B96B-89D8-D7E0-6B957830A79D}"/>
              </a:ext>
            </a:extLst>
          </p:cNvPr>
          <p:cNvSpPr/>
          <p:nvPr/>
        </p:nvSpPr>
        <p:spPr>
          <a:xfrm>
            <a:off x="1152179" y="3861015"/>
            <a:ext cx="4196435" cy="22391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KR" dirty="0"/>
              <a:t>Chatbot để giao tiếp với bác sĩ (giống trong demo của Huy)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9F6684-5977-5B70-09E5-106145ED2772}"/>
              </a:ext>
            </a:extLst>
          </p:cNvPr>
          <p:cNvSpPr/>
          <p:nvPr/>
        </p:nvSpPr>
        <p:spPr>
          <a:xfrm>
            <a:off x="5348614" y="2423712"/>
            <a:ext cx="2805830" cy="36764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KR" dirty="0"/>
              <a:t>Hiện form Bệnh án và điền theo chỉ đạo của bác sĩ</a:t>
            </a:r>
          </a:p>
        </p:txBody>
      </p:sp>
    </p:spTree>
    <p:extLst>
      <p:ext uri="{BB962C8B-B14F-4D97-AF65-F5344CB8AC3E}">
        <p14:creationId xmlns:p14="http://schemas.microsoft.com/office/powerpoint/2010/main" val="408015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23C7-5B54-280E-3FC7-CE556F58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3A42-5B98-65CB-373C-E4D9F2A0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Demo - MedVita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18D4B-91E6-8565-D16A-17C07E16CDF5}"/>
              </a:ext>
            </a:extLst>
          </p:cNvPr>
          <p:cNvSpPr txBox="1"/>
          <p:nvPr/>
        </p:nvSpPr>
        <p:spPr>
          <a:xfrm>
            <a:off x="1479934" y="3429000"/>
            <a:ext cx="5908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>
                <a:solidFill>
                  <a:srgbClr val="FF0000"/>
                </a:solidFill>
              </a:rPr>
              <a:t>*Đây là chú thích cho Tùng để Tùng thiết kế: Hỏi Huy &amp; Toàn gắn link demo vào slide này</a:t>
            </a:r>
          </a:p>
        </p:txBody>
      </p:sp>
    </p:spTree>
    <p:extLst>
      <p:ext uri="{BB962C8B-B14F-4D97-AF65-F5344CB8AC3E}">
        <p14:creationId xmlns:p14="http://schemas.microsoft.com/office/powerpoint/2010/main" val="366418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A6D67-0DE2-4235-B75F-2F12EB277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3B610-23D6-786C-3EE8-631873E6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Lộ trình phát triển Medvita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57C908-8D5B-2D01-EFE3-2962F0A0619C}"/>
              </a:ext>
            </a:extLst>
          </p:cNvPr>
          <p:cNvSpPr txBox="1"/>
          <p:nvPr/>
        </p:nvSpPr>
        <p:spPr>
          <a:xfrm>
            <a:off x="1193494" y="1362937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>
                <a:solidFill>
                  <a:srgbClr val="FF0000"/>
                </a:solidFill>
              </a:rPr>
              <a:t>*Đây là chú thích cho Tùng để Tùng thiết kế: Nhờ Tùng wording lại cho ngắn ngọn và visualize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45C15-A369-0C2B-892B-5E03373067CC}"/>
              </a:ext>
            </a:extLst>
          </p:cNvPr>
          <p:cNvSpPr txBox="1"/>
          <p:nvPr/>
        </p:nvSpPr>
        <p:spPr>
          <a:xfrm>
            <a:off x="631634" y="1773849"/>
            <a:ext cx="10769906" cy="4901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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Giai đoạn 1: 6 tháng (01/06/2026 – 30/11/2026) 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Khảo sát thực trạng và phân tích yêu cầu hệ thống trợ lý AI trong bệnh án điện tử tại các khoa của bệnh viện Trugn ương Thái Nguyên.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 dựng cơ sở dữ liệu và chuẩn hóa dữ liệu y khoa phục vụ huấn luyện các mô hình AI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 triển và huấn luyện các mô hình AI: nhận dạng và phân biệt giọng nói giữa bác sĩ và bệnh nhân, chuyển giọng nói thành văn bản, mô hình hỏi đáp, tóm tắt triệu chứng bệnh nhân.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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Giai đoạn 2: 6 tháng (01/12/2026 – 30/05/2027)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Hoàn thiện cơ sở dữ liệu và chuẩn hóa dữ liệu y khoa phục vụ huấn luyện các mô hình AI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Thiết kế và phát triển hệ thống trợ lý trí tuệ nhân tạo hỗ trợ bác sĩ tự động hóa nhập liệu và quản lý bệnh án điện tử: mô hình xử lý ngôn ngữ tự nhiên tiếng Việt y khoa, Chuyển giọng nói thành văn bản y khoa, Gợi ý nội dung bệnh án,  Tự động điền biểu mẫu, Chuẩn hóa thuật ngữ lâm sàng, Phân tích hình ảnh y tế.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Triển khai thử nghiệm hệ thống trong môi trường bệnh viện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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Giai đoạn 3: 6 tháng (01/06/2027 – 30/11/2027)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Đánh giá hiệu quả và tác động của hệ thống trợ lý AI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Cải tiến các mô hình AI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Xuất bản các công trình khoa học </a:t>
            </a:r>
            <a:endParaRPr lang="en-KR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21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ABE9-2448-830A-5060-2EC24B1D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6A40-98EC-1921-3CB7-D83DCB9C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Năng lực của Trivita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2C37-247A-6B37-6345-C8170A830C9C}"/>
              </a:ext>
            </a:extLst>
          </p:cNvPr>
          <p:cNvSpPr txBox="1">
            <a:spLocks/>
          </p:cNvSpPr>
          <p:nvPr/>
        </p:nvSpPr>
        <p:spPr>
          <a:xfrm>
            <a:off x="838200" y="1698700"/>
            <a:ext cx="10302607" cy="47941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400" b="1" dirty="0"/>
              <a:t>Một số nghiên cứu khoa học của Trivita AI liên quan đến Medvita</a:t>
            </a:r>
          </a:p>
          <a:p>
            <a:pPr lvl="0"/>
            <a:r>
              <a:rPr lang="en-US" sz="1400" dirty="0"/>
              <a:t>Duy Nguyen, Hoang Nguyen, Nghiem Diep, Tan Pham, Tri Cao, Binh T. Nguyen, Paul Swoboda, Nhat Ho, et al. (2023), “LVM-Med: Learning Large-Scale Self-Supervised Vision Models for Medical Imaging via Second-order Graph Matching”, </a:t>
            </a:r>
            <a:r>
              <a:rPr lang="en-US" sz="1400" dirty="0" err="1"/>
              <a:t>NeurIPS</a:t>
            </a:r>
            <a:r>
              <a:rPr lang="en-US" sz="1400" dirty="0"/>
              <a:t> 2023</a:t>
            </a:r>
            <a:r>
              <a:rPr lang="vi-VN" sz="1400" dirty="0"/>
              <a:t>. </a:t>
            </a:r>
            <a:r>
              <a:rPr lang="en-US" sz="1400" dirty="0">
                <a:hlinkClick r:id="rId2"/>
              </a:rPr>
              <a:t>https://doi.org/10.48550/arXiv.2306.11925</a:t>
            </a:r>
            <a:endParaRPr lang="en-KR" sz="1400" dirty="0"/>
          </a:p>
          <a:p>
            <a:pPr lvl="0"/>
            <a:r>
              <a:rPr lang="en-US" sz="1400" dirty="0"/>
              <a:t> Duy Nguyen, Nghiem Diep, Trung Nguyen, Hoang-Bao Le, Tai Nguyen, Anh-Tien Nguyen, Tin Nguyen, Nhat Ho, et al. (2025), </a:t>
            </a:r>
            <a:r>
              <a:rPr lang="vi-VN" sz="1400" dirty="0"/>
              <a:t>“ExGra-Med: Extended Context Graph Alignment for Medical Vision-Language Models”,</a:t>
            </a:r>
            <a:r>
              <a:rPr lang="en-US" sz="1400" dirty="0"/>
              <a:t> </a:t>
            </a:r>
            <a:r>
              <a:rPr lang="en-US" sz="1400" dirty="0" err="1"/>
              <a:t>NeurIPS</a:t>
            </a:r>
            <a:r>
              <a:rPr lang="en-US" sz="1400" dirty="0"/>
              <a:t> 2025</a:t>
            </a:r>
            <a:r>
              <a:rPr lang="vi-VN" sz="1400" dirty="0"/>
              <a:t>. </a:t>
            </a:r>
            <a:r>
              <a:rPr lang="en-US" sz="1400" dirty="0"/>
              <a:t> </a:t>
            </a:r>
            <a:r>
              <a:rPr lang="en-US" sz="1400" dirty="0">
                <a:hlinkClick r:id="rId3"/>
              </a:rPr>
              <a:t>https://doi.org/10.48550/arXiv.2410.02615</a:t>
            </a:r>
            <a:endParaRPr lang="en-KR" sz="1400" dirty="0"/>
          </a:p>
          <a:p>
            <a:pPr lvl="0"/>
            <a:r>
              <a:rPr lang="en-US" sz="1400" dirty="0"/>
              <a:t>Anh-Tien Nguyen, Duy Minh Ho Nguyen, Nghiem Tuong Diep, Trung Quoc Nguyen, Nhat Ho</a:t>
            </a:r>
            <a:r>
              <a:rPr lang="vi-VN" sz="1400" dirty="0"/>
              <a:t>, </a:t>
            </a:r>
            <a:r>
              <a:rPr lang="en-US" sz="1400" dirty="0"/>
              <a:t>et al. (202</a:t>
            </a:r>
            <a:r>
              <a:rPr lang="vi-VN" sz="1400" dirty="0"/>
              <a:t>5</a:t>
            </a:r>
            <a:r>
              <a:rPr lang="en-US" sz="1400" dirty="0"/>
              <a:t>),</a:t>
            </a:r>
            <a:r>
              <a:rPr lang="vi-VN" sz="1400" dirty="0"/>
              <a:t> “MGPATH: A vision-language model with multi-granular prompt learning for few-shot whole slide pathology”, Transactions on Machine Learning Research (09/2025). doi:10.48550/arXiv.2502.07409</a:t>
            </a:r>
            <a:endParaRPr lang="en-KR" sz="1400" dirty="0"/>
          </a:p>
          <a:p>
            <a:pPr lvl="0"/>
            <a:r>
              <a:rPr lang="vi-VN" sz="1400" dirty="0"/>
              <a:t>Xing Han, Huy Nguyen, Carl William Harris, Nhat Ho, Suchi Saria (2024),  “FuseMoE: Mixture-of-Experts Transformers for Fleximodal Fusion”, NeurIPS 2024. https://doi.org/10.48550/arXiv.2402.03226</a:t>
            </a:r>
            <a:endParaRPr lang="en-KR" sz="1400" dirty="0"/>
          </a:p>
          <a:p>
            <a:pPr lvl="0"/>
            <a:r>
              <a:rPr lang="en-US" sz="1400" dirty="0"/>
              <a:t>Khai Le-Duc, Phuong T.H. Trinh, Duy Minh Ho Nguyen, Tien-Phat Nguyen, Nghiem Tuong Diep, An Ngo, Trinh Vuong, Tung Vu, Anh-Tien Nguyen, Nguyen Dinh Mau, Van Trung Hoang, Khai-Nguyen Nguyen, Hy Nguyen, Chris Ngo, Anji Liu, Nhat Ho, et al. (202</a:t>
            </a:r>
            <a:r>
              <a:rPr lang="vi-VN" sz="1400" dirty="0"/>
              <a:t>6</a:t>
            </a:r>
            <a:r>
              <a:rPr lang="en-US" sz="1400" dirty="0"/>
              <a:t>),</a:t>
            </a:r>
            <a:r>
              <a:rPr lang="vi-VN" sz="1400" dirty="0"/>
              <a:t> “S-Chain: Structured Visual Chain-of-Thought For Medicine”, ARXIV, Machine Learning (cs.LG); Computer Vision and Pattern Recognition (cs.CV). </a:t>
            </a:r>
            <a:r>
              <a:rPr lang="en-US" sz="1400" dirty="0"/>
              <a:t>https://</a:t>
            </a:r>
            <a:r>
              <a:rPr lang="en-US" sz="1400" dirty="0" err="1"/>
              <a:t>doi.org</a:t>
            </a:r>
            <a:r>
              <a:rPr lang="en-US" sz="1400" dirty="0"/>
              <a:t>/10.48550/arXiv.2510.22728</a:t>
            </a:r>
          </a:p>
          <a:p>
            <a:pPr lvl="0"/>
            <a:r>
              <a:rPr lang="en-US" sz="1400" dirty="0"/>
              <a:t>Le, M., Nguyen, A., Nguyen, H., Nguyen, C., Tran, A., &amp; Ho, N. (2025). Revisit Visual Prompt Tuning: The Expressiveness of Prompt Experts. ICLR 2026, https://</a:t>
            </a:r>
            <a:r>
              <a:rPr lang="en-US" sz="1400" dirty="0" err="1"/>
              <a:t>arxiv.org</a:t>
            </a:r>
            <a:r>
              <a:rPr lang="en-US" sz="1400" dirty="0"/>
              <a:t>/abs/2501.18936</a:t>
            </a:r>
          </a:p>
          <a:p>
            <a:pPr lvl="0"/>
            <a:r>
              <a:rPr lang="en-US" sz="1400" dirty="0"/>
              <a:t>Le, M., Dao, B. N., Nguyen, H., Tran, Q., Nguyen, A., &amp; Ho, N. (2025). One-Prompt Strikes Back: Sparse Mixture of Experts for Prompt-based Continual Learning. ICLR 2026, https://</a:t>
            </a:r>
            <a:r>
              <a:rPr lang="en-US" sz="1400" dirty="0" err="1"/>
              <a:t>arxiv.org</a:t>
            </a:r>
            <a:r>
              <a:rPr lang="en-US" sz="1400" dirty="0"/>
              <a:t>/abs/2509.24483</a:t>
            </a:r>
          </a:p>
          <a:p>
            <a:pPr marL="0" lvl="0" indent="0">
              <a:buNone/>
            </a:pPr>
            <a:endParaRPr lang="en-KR" sz="1400" dirty="0"/>
          </a:p>
        </p:txBody>
      </p:sp>
    </p:spTree>
    <p:extLst>
      <p:ext uri="{BB962C8B-B14F-4D97-AF65-F5344CB8AC3E}">
        <p14:creationId xmlns:p14="http://schemas.microsoft.com/office/powerpoint/2010/main" val="334986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B913-E842-4114-1796-3849A3D4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E3A1-8D2B-5CD3-B142-F25E2352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Sản phẩm liên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DC3D-1A95-2C03-0771-C3B9776FC1E9}"/>
              </a:ext>
            </a:extLst>
          </p:cNvPr>
          <p:cNvSpPr txBox="1">
            <a:spLocks/>
          </p:cNvSpPr>
          <p:nvPr/>
        </p:nvSpPr>
        <p:spPr>
          <a:xfrm>
            <a:off x="838200" y="1698700"/>
            <a:ext cx="10302607" cy="4794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/>
              <a:t>Cty</a:t>
            </a:r>
            <a:r>
              <a:rPr lang="en-US" sz="2000" b="1" dirty="0"/>
              <a:t> Abridge </a:t>
            </a:r>
            <a:r>
              <a:rPr lang="en-US" sz="1400" dirty="0"/>
              <a:t>(https://</a:t>
            </a:r>
            <a:r>
              <a:rPr lang="en-US" sz="1400" dirty="0" err="1"/>
              <a:t>www.abridge.com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r>
              <a:rPr lang="vi-VN" sz="1400" b="1" dirty="0"/>
              <a:t>thành lập: 2018</a:t>
            </a:r>
          </a:p>
          <a:p>
            <a:pPr marL="0" indent="0">
              <a:buNone/>
            </a:pPr>
            <a:r>
              <a:rPr lang="vi-VN" sz="1400" b="1" dirty="0"/>
              <a:t>Định giá: </a:t>
            </a:r>
            <a:r>
              <a:rPr lang="vi-VN" sz="1400" dirty="0"/>
              <a:t>5,3 tỷ USD</a:t>
            </a:r>
          </a:p>
          <a:p>
            <a:pPr marL="0" indent="0">
              <a:buNone/>
            </a:pPr>
            <a:r>
              <a:rPr lang="vi-VN" sz="1400" b="1" dirty="0"/>
              <a:t>Tổng số vốn đã gọi được: </a:t>
            </a:r>
            <a:r>
              <a:rPr lang="vi-VN" sz="1400" dirty="0"/>
              <a:t>758,5 triệu USD </a:t>
            </a:r>
          </a:p>
          <a:p>
            <a:pPr marL="0" indent="0">
              <a:buNone/>
            </a:pPr>
            <a:r>
              <a:rPr lang="vi-VN" sz="1400" dirty="0"/>
              <a:t>Sản phẩm: </a:t>
            </a:r>
            <a:r>
              <a:rPr lang="vi-VN" sz="1400" b="1" dirty="0"/>
              <a:t>Ghi chép hồ sơ bệnh án tự động</a:t>
            </a:r>
          </a:p>
          <a:p>
            <a:pPr marL="0" indent="0">
              <a:buNone/>
            </a:pPr>
            <a:r>
              <a:rPr lang="en-US" sz="1600" dirty="0" err="1"/>
              <a:t>Cách</a:t>
            </a:r>
            <a:r>
              <a:rPr lang="en-US" sz="1600" dirty="0"/>
              <a:t> </a:t>
            </a:r>
            <a:r>
              <a:rPr lang="en-US" sz="1600" dirty="0" err="1"/>
              <a:t>hoạt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: </a:t>
            </a:r>
            <a:r>
              <a:rPr lang="en-US" sz="1600" dirty="0" err="1"/>
              <a:t>Bác</a:t>
            </a:r>
            <a:r>
              <a:rPr lang="en-US" sz="1600" dirty="0"/>
              <a:t> </a:t>
            </a:r>
            <a:r>
              <a:rPr lang="en-US" sz="1600" dirty="0" err="1"/>
              <a:t>sĩ</a:t>
            </a:r>
            <a:r>
              <a:rPr lang="en-US" sz="1600" dirty="0"/>
              <a:t> </a:t>
            </a:r>
            <a:r>
              <a:rPr lang="en-US" sz="1600" dirty="0" err="1"/>
              <a:t>chỉ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ghi</a:t>
            </a:r>
            <a:r>
              <a:rPr lang="en-US" sz="1600" dirty="0"/>
              <a:t> </a:t>
            </a:r>
            <a:r>
              <a:rPr lang="en-US" sz="1600" dirty="0" err="1"/>
              <a:t>âm</a:t>
            </a:r>
            <a:r>
              <a:rPr lang="en-US" sz="1600" dirty="0"/>
              <a:t> </a:t>
            </a:r>
            <a:r>
              <a:rPr lang="en-US" sz="1600" dirty="0" err="1"/>
              <a:t>cuộc</a:t>
            </a:r>
            <a:r>
              <a:rPr lang="en-US" sz="1600" dirty="0"/>
              <a:t> </a:t>
            </a:r>
            <a:r>
              <a:rPr lang="en-US" sz="1600" dirty="0" err="1"/>
              <a:t>trò</a:t>
            </a:r>
            <a:r>
              <a:rPr lang="en-US" sz="1600" dirty="0"/>
              <a:t> </a:t>
            </a:r>
            <a:r>
              <a:rPr lang="en-US" sz="1600" dirty="0" err="1"/>
              <a:t>chuyện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bệnh</a:t>
            </a:r>
            <a:r>
              <a:rPr lang="en-US" sz="1600" dirty="0"/>
              <a:t> </a:t>
            </a:r>
            <a:r>
              <a:rPr lang="en-US" sz="1600" dirty="0" err="1"/>
              <a:t>nhân</a:t>
            </a:r>
            <a:r>
              <a:rPr lang="en-US" sz="1600" dirty="0"/>
              <a:t> (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sự</a:t>
            </a:r>
            <a:r>
              <a:rPr lang="en-US" sz="1600" dirty="0"/>
              <a:t> </a:t>
            </a:r>
            <a:r>
              <a:rPr lang="en-US" sz="1600" dirty="0" err="1"/>
              <a:t>đồng</a:t>
            </a:r>
            <a:r>
              <a:rPr lang="en-US" sz="1600" dirty="0"/>
              <a:t> </a:t>
            </a:r>
            <a:r>
              <a:rPr lang="en-US" sz="1600" dirty="0" err="1"/>
              <a:t>ý</a:t>
            </a:r>
            <a:r>
              <a:rPr lang="en-US" sz="1600" dirty="0"/>
              <a:t>) qua </a:t>
            </a:r>
            <a:r>
              <a:rPr lang="en-US" sz="1600" dirty="0" err="1"/>
              <a:t>ứng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</a:t>
            </a:r>
            <a:r>
              <a:rPr lang="en-US" sz="1600" dirty="0" err="1"/>
              <a:t>điện</a:t>
            </a:r>
            <a:r>
              <a:rPr lang="en-US" sz="1600" dirty="0"/>
              <a:t> </a:t>
            </a:r>
            <a:r>
              <a:rPr lang="en-US" sz="1600" dirty="0" err="1"/>
              <a:t>thoại</a:t>
            </a:r>
            <a:r>
              <a:rPr lang="en-US" sz="1600" dirty="0"/>
              <a:t> </a:t>
            </a:r>
            <a:r>
              <a:rPr lang="en-US" sz="1600" dirty="0" err="1"/>
              <a:t>hoặc</a:t>
            </a:r>
            <a:r>
              <a:rPr lang="en-US" sz="1600" dirty="0"/>
              <a:t> </a:t>
            </a:r>
            <a:r>
              <a:rPr lang="en-US" sz="1600" dirty="0" err="1"/>
              <a:t>máy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 . AI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tự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lọc</a:t>
            </a:r>
            <a:r>
              <a:rPr lang="en-US" sz="1600" dirty="0"/>
              <a:t> </a:t>
            </a:r>
            <a:r>
              <a:rPr lang="en-US" sz="1600" dirty="0" err="1"/>
              <a:t>bỏ</a:t>
            </a:r>
            <a:r>
              <a:rPr lang="en-US" sz="1600" dirty="0"/>
              <a:t> </a:t>
            </a:r>
            <a:r>
              <a:rPr lang="en-US" sz="1600" dirty="0" err="1"/>
              <a:t>những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tin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thiết</a:t>
            </a:r>
            <a:r>
              <a:rPr lang="en-US" sz="1600" dirty="0"/>
              <a:t>, </a:t>
            </a:r>
            <a:r>
              <a:rPr lang="en-US" sz="1600" dirty="0" err="1"/>
              <a:t>chuyển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r>
              <a:rPr lang="en-US" sz="1600" dirty="0"/>
              <a:t> </a:t>
            </a:r>
            <a:r>
              <a:rPr lang="en-US" sz="1600" dirty="0" err="1"/>
              <a:t>cuộc</a:t>
            </a:r>
            <a:r>
              <a:rPr lang="en-US" sz="1600" dirty="0"/>
              <a:t> </a:t>
            </a:r>
            <a:r>
              <a:rPr lang="en-US" sz="1600" dirty="0" err="1"/>
              <a:t>hội</a:t>
            </a:r>
            <a:r>
              <a:rPr lang="en-US" sz="1600" dirty="0"/>
              <a:t> </a:t>
            </a:r>
            <a:r>
              <a:rPr lang="en-US" sz="1600" dirty="0" err="1"/>
              <a:t>thoại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 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tóm</a:t>
            </a:r>
            <a:r>
              <a:rPr lang="en-US" sz="1600" dirty="0"/>
              <a:t> </a:t>
            </a:r>
            <a:r>
              <a:rPr lang="en-US" sz="1600" dirty="0" err="1"/>
              <a:t>tắt</a:t>
            </a:r>
            <a:r>
              <a:rPr lang="en-US" sz="1600" dirty="0"/>
              <a:t> y khoa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cấu</a:t>
            </a:r>
            <a:r>
              <a:rPr lang="en-US" sz="1600" dirty="0"/>
              <a:t> </a:t>
            </a:r>
            <a:r>
              <a:rPr lang="en-US" sz="1600" dirty="0" err="1"/>
              <a:t>trúc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-&gt; </a:t>
            </a:r>
            <a:r>
              <a:rPr lang="en-US" sz="1600" dirty="0" err="1"/>
              <a:t>nhưng</a:t>
            </a:r>
            <a:r>
              <a:rPr lang="en-US" sz="1600" dirty="0"/>
              <a:t> </a:t>
            </a:r>
            <a:r>
              <a:rPr lang="en-US" sz="1600" dirty="0" err="1"/>
              <a:t>cái</a:t>
            </a:r>
            <a:r>
              <a:rPr lang="en-US" sz="1600" dirty="0"/>
              <a:t> </a:t>
            </a:r>
            <a:r>
              <a:rPr lang="en-US" sz="1600" dirty="0" err="1"/>
              <a:t>này</a:t>
            </a:r>
            <a:r>
              <a:rPr lang="en-US" sz="1600" dirty="0"/>
              <a:t> </a:t>
            </a:r>
            <a:r>
              <a:rPr lang="en-US" sz="1600" dirty="0" err="1"/>
              <a:t>chỉ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form </a:t>
            </a:r>
            <a:r>
              <a:rPr lang="en-US" sz="1600" dirty="0" err="1"/>
              <a:t>mẫu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Mỹ</a:t>
            </a:r>
            <a:r>
              <a:rPr lang="en-US" sz="1600" dirty="0"/>
              <a:t>, </a:t>
            </a:r>
            <a:r>
              <a:rPr lang="en-US" sz="1600" dirty="0" err="1"/>
              <a:t>ngôn</a:t>
            </a:r>
            <a:r>
              <a:rPr lang="en-US" sz="1600" dirty="0"/>
              <a:t> </a:t>
            </a:r>
            <a:r>
              <a:rPr lang="en-US" sz="1600" dirty="0" err="1"/>
              <a:t>ngữ</a:t>
            </a:r>
            <a:r>
              <a:rPr lang="en-US" sz="1600" dirty="0"/>
              <a:t> </a:t>
            </a:r>
            <a:r>
              <a:rPr lang="en-US" sz="1600" dirty="0" err="1"/>
              <a:t>tiếng</a:t>
            </a:r>
            <a:r>
              <a:rPr lang="en-US" sz="1600" dirty="0"/>
              <a:t> Anh, </a:t>
            </a:r>
            <a:r>
              <a:rPr lang="en-US" sz="1600" dirty="0" err="1"/>
              <a:t>khó</a:t>
            </a:r>
            <a:r>
              <a:rPr lang="en-US" sz="1600" dirty="0"/>
              <a:t> </a:t>
            </a:r>
            <a:r>
              <a:rPr lang="en-US" sz="1600" dirty="0" err="1"/>
              <a:t>áp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form </a:t>
            </a:r>
            <a:r>
              <a:rPr lang="en-US" sz="1600" dirty="0" err="1"/>
              <a:t>bệnh</a:t>
            </a:r>
            <a:r>
              <a:rPr lang="en-US" sz="1600" dirty="0"/>
              <a:t> </a:t>
            </a:r>
            <a:r>
              <a:rPr lang="en-US" sz="1600" dirty="0" err="1"/>
              <a:t>án</a:t>
            </a:r>
            <a:r>
              <a:rPr lang="en-US" sz="1600" dirty="0"/>
              <a:t> VN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</a:t>
            </a:r>
            <a:r>
              <a:rPr lang="en-US" sz="1600" dirty="0" err="1"/>
              <a:t>ngôn</a:t>
            </a:r>
            <a:r>
              <a:rPr lang="en-US" sz="1600" dirty="0"/>
              <a:t> </a:t>
            </a:r>
            <a:r>
              <a:rPr lang="en-US" sz="1600" dirty="0" err="1"/>
              <a:t>ngữ</a:t>
            </a:r>
            <a:r>
              <a:rPr lang="en-US" sz="1600" dirty="0"/>
              <a:t> </a:t>
            </a:r>
            <a:r>
              <a:rPr lang="en-US" sz="1600" dirty="0" err="1"/>
              <a:t>tiếng</a:t>
            </a:r>
            <a:r>
              <a:rPr lang="en-US" sz="1600" dirty="0"/>
              <a:t> Việt.</a:t>
            </a:r>
          </a:p>
          <a:p>
            <a:pPr marL="0" indent="0">
              <a:buNone/>
            </a:pPr>
            <a:endParaRPr lang="en-KR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ED590-D2DD-3385-7C1B-147FE15D6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514" y="1338562"/>
            <a:ext cx="5624963" cy="194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6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6743-8661-4CE7-D561-19116C10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C9C3-E23A-0DA0-9033-DF67754E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16930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1573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MedVita  Trợ lý AI cho bác sĩ khám bệnh, lập và quản lý hồ sơ bệnh án điện tử</vt:lpstr>
      <vt:lpstr>Vấn đề </vt:lpstr>
      <vt:lpstr>Giải Pháp  MedVita</vt:lpstr>
      <vt:lpstr>Giải Pháp MedVita</vt:lpstr>
      <vt:lpstr>Giao diện MedVita</vt:lpstr>
      <vt:lpstr>Giao diện MedVita</vt:lpstr>
      <vt:lpstr>Giao diện MedVita</vt:lpstr>
      <vt:lpstr>Demo - MedVita</vt:lpstr>
      <vt:lpstr>Lộ trình phát triển Medvita</vt:lpstr>
      <vt:lpstr>Năng lực của Trivita AI</vt:lpstr>
      <vt:lpstr>Sản phẩm liên quan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Phuoc Nguyen Quang</dc:creator>
  <cp:lastModifiedBy>Phuoc Nguyen Quang</cp:lastModifiedBy>
  <cp:revision>2</cp:revision>
  <dcterms:created xsi:type="dcterms:W3CDTF">2026-05-05T17:43:17Z</dcterms:created>
  <dcterms:modified xsi:type="dcterms:W3CDTF">2026-05-06T02:48:22Z</dcterms:modified>
</cp:coreProperties>
</file>